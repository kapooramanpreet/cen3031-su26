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68" r:id="rId2"/>
    <p:sldId id="357" r:id="rId3"/>
    <p:sldId id="359" r:id="rId4"/>
    <p:sldId id="360" r:id="rId5"/>
    <p:sldId id="363" r:id="rId6"/>
    <p:sldId id="362" r:id="rId7"/>
    <p:sldId id="358" r:id="rId8"/>
    <p:sldId id="378" r:id="rId9"/>
    <p:sldId id="361" r:id="rId10"/>
    <p:sldId id="367" r:id="rId11"/>
    <p:sldId id="366" r:id="rId12"/>
    <p:sldId id="365" r:id="rId13"/>
    <p:sldId id="379" r:id="rId14"/>
    <p:sldId id="364" r:id="rId15"/>
    <p:sldId id="377" r:id="rId16"/>
    <p:sldId id="373" r:id="rId17"/>
    <p:sldId id="372" r:id="rId18"/>
    <p:sldId id="374" r:id="rId19"/>
    <p:sldId id="375" r:id="rId20"/>
    <p:sldId id="376" r:id="rId21"/>
    <p:sldId id="368" r:id="rId22"/>
    <p:sldId id="371" r:id="rId23"/>
    <p:sldId id="381" r:id="rId24"/>
    <p:sldId id="382" r:id="rId25"/>
    <p:sldId id="370" r:id="rId26"/>
    <p:sldId id="369" r:id="rId27"/>
    <p:sldId id="380" r:id="rId28"/>
    <p:sldId id="35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poor,Amanpreet" initials="K" lastIdx="1" clrIdx="0">
    <p:extLst>
      <p:ext uri="{19B8F6BF-5375-455C-9EA6-DF929625EA0E}">
        <p15:presenceInfo xmlns:p15="http://schemas.microsoft.com/office/powerpoint/2012/main" userId="Kapoor,Amanpre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015"/>
    <a:srgbClr val="1988DC"/>
    <a:srgbClr val="FF99FF"/>
    <a:srgbClr val="00B050"/>
    <a:srgbClr val="F05033"/>
    <a:srgbClr val="EB6E19"/>
    <a:srgbClr val="0A0C10"/>
    <a:srgbClr val="12161C"/>
    <a:srgbClr val="1B212B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6" autoAdjust="0"/>
    <p:restoredTop sz="86432" autoAdjust="0"/>
  </p:normalViewPr>
  <p:slideViewPr>
    <p:cSldViewPr snapToGrid="0">
      <p:cViewPr>
        <p:scale>
          <a:sx n="50" d="100"/>
          <a:sy n="50" d="100"/>
        </p:scale>
        <p:origin x="1002" y="9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86AF1-EF24-4659-9089-2771856A9EA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3017C-A127-4C06-BF43-1875A8859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0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8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11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B5B3-77AF-DB57-6EF1-A697D7C2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CC1AC-7366-03B2-BD47-8BED9E8FD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CE134-73A2-AC8A-1506-1542900B9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5C7B7-1BDA-07E1-FA8A-32C5B6891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7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84E9-AC7B-A489-A73B-EC289B65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057F2-B7AD-5CD6-2362-2E55C2115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3817B-E854-13CB-05D2-C4ABCB619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1492C-459F-41C4-5DEE-93E9F6E97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29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9226E-F346-57F3-F978-D9847D16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A7EB0-35AA-4D35-9CB0-02F06948A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8956A-86FC-B411-5CA8-F4B3B6DDE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2C2A9-531A-A2B1-E334-290DD2D0B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83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93957-18B3-6255-3049-010A1104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BD07A-0D71-E068-E9EA-A30E7A9EE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A102A-C776-4423-2EC8-C3599AE5A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38C89-E77A-D7DB-0813-7E12A97D9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9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5939-4E61-4204-5513-ACC04EF4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0F785-AA46-5668-9E60-B1139E6A2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2353D-5A2C-2FD3-8F93-023631AA0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D2FBE-71B6-CFA7-BEB2-3EED7B75E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22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17A40-D37A-6C65-CA09-012F75CC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5E007-671D-D81F-BFCA-F4C2EDE0A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4BAEC-A91D-F5DD-EA78-469A1818D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3626A-B893-B7FE-2075-E7E9282CC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80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E980-5163-9CFF-B8CC-FE7D9950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2D6C6-F30F-87B1-15F2-6FD4E2217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89BE0-63C8-5E8A-3286-A55735131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DC9FF-03C3-88DB-5F5D-CBAD6D109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88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36A5-CD6C-A56E-2192-F2D4790C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33FA6-B403-BEA3-F593-34F467964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C582D-49F3-85E6-7D45-B7D1AA993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6BF1-05A8-037E-2257-4F89329C0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9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8B39-CEB8-7D45-2D64-533D46AF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D077F-846D-1DE6-35CE-B6B0B4D79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FE9E5-905C-9E14-AECE-6B2CC7747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90112-8902-F719-5FF1-00F2FBE01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53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69D0-4F71-9C51-3874-0AA4CC0A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EFC9F-FB6E-B9A9-5E22-D26D2C20A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360CF-F11B-9A49-8148-FBD50C04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DD8D7-97B5-819F-E0A0-FD68D648C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08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0629-C35E-0542-12F1-1E1E5483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0D9FD-F102-B5E4-7B25-561DA1DF5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6C619-7DDF-62BD-AC0C-0B99CE06F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DCFA0-2770-A998-9006-F637D385D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44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91739-20DC-A232-08F2-8801012A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31A95-206C-9F4E-D7D8-6ABC2FEFA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CCB74-DE2F-EDF1-6066-E90BB059E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29D7F-B404-316F-7C24-9A52C449F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81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F176-3A4E-A34F-5DFC-4D4A6F43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93EF5-11F1-2077-B7B3-429065A87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95D7E-62CE-0BA0-2982-0AF23DF06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3620C-99F0-6DD7-E0CF-C4605B90A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70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D559B-9D00-BB0E-59CB-F2779B33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D88A3-9F41-557A-5013-ED7045F09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30DC0-0F78-A596-B16B-073727B4B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05340-B905-43E1-D642-C8187C80B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333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6425-1772-0FD6-5371-AADD0AC9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E5A3B-AFAB-5EFE-EE31-6F1542A1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B4FF9-CE30-795B-215E-077F506ED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4CA65-BF4A-1E94-8282-41452CE9D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577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610B6-21DA-3488-B147-823602C0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639C1-BEB5-8BDE-3F95-373EC5787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F0B86-19B5-D61B-44DB-357E89712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8851E-599C-6EE0-EDA8-92838326A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8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DADF-4D62-BBEA-F5CD-F929FE41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F6909-3944-F0C0-40C6-BB7DF8093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9A0CF-52A2-D62C-A762-F47DF36B9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BDCE7-88BB-F6D2-D07F-C8AB6EA5D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02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D9C7-6F8E-A5A2-A6FB-9D439136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EC080-036C-249F-E172-2315A0326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69216-71E7-8BEC-E75A-1993D3C44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7ACD3-B384-9FFF-D9A5-54C781C79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12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D85D-EEC0-98E6-6960-63F85D3C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22B14-C83D-3146-65CF-BCE47779C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0BB3F-7C01-489A-6505-031032133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3E293-CAA3-E96F-8F83-E78F3FD8F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051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B54D-168E-CFBF-ECEE-551945A1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63E3F-AA3F-4F3C-AC25-2F8A3E564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2C0AB-775C-D8F9-5335-89CB75A88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E1C48-E4FE-5DE1-D3E4-3DFAE7EA5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67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CB9C-B045-C252-E197-9C7E5E66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626F3-72A1-9948-ED28-575931A19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8E4F7-8A22-170A-4D36-5CA83121B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8850F-1DBD-D52B-CA88-EF0B6AA9C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695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913B-0BD5-93DD-BAC5-FC52334A0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3ADB7-2E4C-6681-8F33-D211238FF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C2683-99A4-0C7E-92FA-2AD20C8E2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7A19D-30E1-9E3F-A07A-8B0CED69D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77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8BB8-9BB8-D6C4-D04E-82D66029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B476A-9993-2480-AFC7-F154FC199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09F6D-C4F5-386E-0D7C-2E7B65C15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6087A-84E3-174E-5021-1E6EF1A54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190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43558-F726-C497-8D27-F13D3E93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BC057-3EE0-76E1-F08A-37DCF11CB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63922-C186-40FE-63A9-5FF7BC50D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00751-E954-A86D-4510-812B33F31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14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3E828-A259-8790-6DE5-BF6E8D9E2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38B77-AD8C-FCAA-4AC9-8BA42459D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DA85F-21BB-1A26-7A24-581981B55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0FDF9-9DBA-FE69-4BC1-9690C3F96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176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3017C-A127-4C06-BF43-1875A8859C4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2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859FD-4A18-469D-9E4F-A454099EA4DE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6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E536-4418-4D9E-A3E0-E88528F28E4B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6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3BC6-0CCD-4AB2-81CA-43E3CCD5EE51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098F-DA8A-47AA-A10B-42006A055DDF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7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786E-0AE6-47C8-9B09-C40597C94076}" type="datetime1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0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DAE0-74C7-4D5E-AF3C-B9894D5D19BF}" type="datetime1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7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6827-E8F4-4379-8EF1-6428733FD3BC}" type="datetime1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088F-57A8-4376-9CF0-0496E10BAF0A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5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9DD1-D364-4683-964F-0C5BCF070FBA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5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3ED7-5ED7-450C-B7ED-EBEF21310B7F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9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8CA-26D9-4181-B37D-04409D1280D0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2B3D-9642-4A81-AE7C-4F307D91E481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8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Comparison_of_version-control_software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Ala6PHlYjmw" TargetMode="External"/><Relationship Id="rId5" Type="http://schemas.openxmlformats.org/officeDocument/2006/relationships/hyperlink" Target="https://missing.csail.mit.edu/2026/version-control/" TargetMode="Externa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1830" y="1873457"/>
            <a:ext cx="10588339" cy="175432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Control &amp; Git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Engineering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 3031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7" name="Picture 6" descr="logo CEN3031">
            <a:extLst>
              <a:ext uri="{FF2B5EF4-FFF2-40B4-BE49-F238E27FC236}">
                <a16:creationId xmlns:a16="http://schemas.microsoft.com/office/drawing/2014/main" id="{D871E519-248D-AFA3-54EA-1AC7B8AE7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337" y="4966855"/>
            <a:ext cx="1891145" cy="18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40D43-803C-4F4B-88B9-75C12ADD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  <a:latin typeface="+mn-lt"/>
              </a:rPr>
            </a:br>
            <a:br>
              <a:rPr lang="en-US" b="1" dirty="0">
                <a:solidFill>
                  <a:schemeClr val="bg1"/>
                </a:solidFill>
                <a:latin typeface="+mn-lt"/>
              </a:rPr>
            </a:br>
            <a:br>
              <a:rPr lang="en-US" b="1" dirty="0">
                <a:solidFill>
                  <a:schemeClr val="bg1"/>
                </a:solidFill>
                <a:latin typeface="+mn-lt"/>
              </a:rPr>
            </a:br>
            <a:r>
              <a:rPr lang="en-US" b="1" dirty="0">
                <a:solidFill>
                  <a:schemeClr val="bg1"/>
                </a:solidFill>
                <a:latin typeface="+mn-lt"/>
              </a:rPr>
              <a:t>Version Control </a:t>
            </a:r>
            <a:br>
              <a:rPr lang="en-US" b="1" dirty="0">
                <a:solidFill>
                  <a:schemeClr val="bg1"/>
                </a:solidFill>
                <a:latin typeface="+mn-lt"/>
              </a:rPr>
            </a:br>
            <a:br>
              <a:rPr lang="en-US" b="1" dirty="0">
                <a:solidFill>
                  <a:schemeClr val="bg1"/>
                </a:solidFill>
                <a:latin typeface="+mn-lt"/>
              </a:rPr>
            </a:br>
            <a:br>
              <a:rPr lang="en-US" b="1" dirty="0">
                <a:solidFill>
                  <a:schemeClr val="bg1"/>
                </a:solidFill>
                <a:latin typeface="+mn-lt"/>
              </a:rPr>
            </a:b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CF4B5-1582-7EDD-D3AE-DF02FE63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E5F229F0-D41C-46B3-6953-18E781835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F20FCD5F-A2A7-F045-4D46-06E65E3EC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CEC57C8-6DF6-1C86-C898-5FCC70DE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7761" y="1634679"/>
            <a:ext cx="10076073" cy="1005840"/>
            <a:chOff x="548640" y="1645920"/>
            <a:chExt cx="10847799" cy="1005840"/>
          </a:xfrm>
        </p:grpSpPr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07F70E51-0495-E183-2371-99A0D26F772D}"/>
                </a:ext>
              </a:extLst>
            </p:cNvPr>
            <p:cNvSpPr/>
            <p:nvPr/>
          </p:nvSpPr>
          <p:spPr>
            <a:xfrm>
              <a:off x="548640" y="1737360"/>
              <a:ext cx="73152" cy="822960"/>
            </a:xfrm>
            <a:prstGeom prst="rect">
              <a:avLst/>
            </a:prstGeom>
            <a:solidFill>
              <a:srgbClr val="F05033"/>
            </a:solidFill>
            <a:ln w="12700">
              <a:solidFill>
                <a:srgbClr val="F05033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43513E92-3260-B940-9A40-458B99DAB97D}"/>
                </a:ext>
              </a:extLst>
            </p:cNvPr>
            <p:cNvSpPr/>
            <p:nvPr/>
          </p:nvSpPr>
          <p:spPr>
            <a:xfrm>
              <a:off x="880839" y="1645920"/>
              <a:ext cx="1051560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Version control systems </a:t>
              </a:r>
              <a:r>
                <a:rPr lang="en-US" sz="1800" dirty="0">
                  <a:solidFill>
                    <a:srgbClr val="C9D1D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(VCSs) track changes to a folder and its contents as a series of </a:t>
              </a:r>
              <a:r>
                <a:rPr lang="en-US" sz="1800" b="1" dirty="0">
                  <a:solidFill>
                    <a:srgbClr val="F050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snapshots</a:t>
              </a:r>
              <a:r>
                <a:rPr lang="en-US" sz="1800" dirty="0">
                  <a:solidFill>
                    <a:srgbClr val="C9D1D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each capturing the full state of files plus metadata like author, message, and parents.</a:t>
              </a:r>
              <a:endParaRPr lang="en-US" sz="18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A08A1E1-ECAF-C530-3747-168C1197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64386" y="3211430"/>
            <a:ext cx="9975511" cy="2269375"/>
            <a:chOff x="548640" y="3383280"/>
            <a:chExt cx="11064240" cy="2651760"/>
          </a:xfrm>
        </p:grpSpPr>
        <p:sp>
          <p:nvSpPr>
            <p:cNvPr id="15" name="Shape 11"/>
            <p:cNvSpPr/>
            <p:nvPr/>
          </p:nvSpPr>
          <p:spPr>
            <a:xfrm>
              <a:off x="548640" y="3383280"/>
              <a:ext cx="3657600" cy="36576"/>
            </a:xfrm>
            <a:prstGeom prst="rect">
              <a:avLst/>
            </a:prstGeom>
            <a:solidFill>
              <a:srgbClr val="F05033"/>
            </a:solidFill>
            <a:ln w="12700">
              <a:solidFill>
                <a:srgbClr val="F050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2"/>
            <p:cNvSpPr/>
            <p:nvPr/>
          </p:nvSpPr>
          <p:spPr>
            <a:xfrm>
              <a:off x="822960" y="3611880"/>
              <a:ext cx="914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F050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1100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822960" y="402336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HISTORY</a:t>
              </a:r>
              <a:endParaRPr lang="en-US" sz="220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822960" y="4663440"/>
              <a:ext cx="310896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Look at any past snapshot and read why each change was made.</a:t>
              </a:r>
              <a:endParaRPr lang="en-US" sz="13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4251960" y="3383280"/>
              <a:ext cx="3657600" cy="36576"/>
            </a:xfrm>
            <a:prstGeom prst="rect">
              <a:avLst/>
            </a:prstGeom>
            <a:solidFill>
              <a:srgbClr val="58A6FF"/>
            </a:solidFill>
            <a:ln w="12700">
              <a:solidFill>
                <a:srgbClr val="58A6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4526280" y="3611880"/>
              <a:ext cx="914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11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4526280" y="402336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PARALLEL WORK</a:t>
              </a:r>
              <a:endParaRPr lang="en-US" sz="22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4526280" y="4663440"/>
              <a:ext cx="310896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 multiple features simultaneously on separate branches.</a:t>
              </a:r>
              <a:endParaRPr lang="en-US" sz="13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55280" y="3383280"/>
              <a:ext cx="3657600" cy="36576"/>
            </a:xfrm>
            <a:prstGeom prst="rect">
              <a:avLst/>
            </a:prstGeom>
            <a:solidFill>
              <a:srgbClr val="3FB950"/>
            </a:solidFill>
            <a:ln w="127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8229600" y="3611880"/>
              <a:ext cx="914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3FB9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229600" y="402336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COLLABORATION</a:t>
              </a:r>
              <a:endParaRPr lang="en-US" sz="2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8229600" y="4663440"/>
              <a:ext cx="310896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See what others changed; resolve conflicts when work overlaps.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65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51016-2B99-D2B2-D194-874B5207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FAED6-2303-CF1D-C1F7-7942B90F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76B10573-FA5D-1F90-E82F-00F61D48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6BE876F1-E44A-6615-6371-BF9CBB7EA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5" name="Shape 7">
            <a:extLst>
              <a:ext uri="{FF2B5EF4-FFF2-40B4-BE49-F238E27FC236}">
                <a16:creationId xmlns:a16="http://schemas.microsoft.com/office/drawing/2014/main" id="{CE5B312F-39FD-38D1-5B28-63F000ED5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640" y="2011839"/>
            <a:ext cx="502920" cy="50292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7041134-B2BC-097B-1601-A812279406AD}"/>
              </a:ext>
            </a:extLst>
          </p:cNvPr>
          <p:cNvSpPr/>
          <p:nvPr/>
        </p:nvSpPr>
        <p:spPr>
          <a:xfrm>
            <a:off x="929640" y="201183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EE42428-CB2E-D4F4-B732-3437C6746A4C}"/>
              </a:ext>
            </a:extLst>
          </p:cNvPr>
          <p:cNvSpPr/>
          <p:nvPr/>
        </p:nvSpPr>
        <p:spPr>
          <a:xfrm>
            <a:off x="1706880" y="192039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wrote this module?</a:t>
            </a:r>
            <a:endParaRPr lang="en-US" sz="22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5E09CCC-33B8-5203-3EC9-A62922F3BADA}"/>
              </a:ext>
            </a:extLst>
          </p:cNvPr>
          <p:cNvSpPr/>
          <p:nvPr/>
        </p:nvSpPr>
        <p:spPr>
          <a:xfrm>
            <a:off x="1706880" y="242331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 is preserved automatically — no detective work.</a:t>
            </a:r>
            <a:endParaRPr lang="en-US" sz="1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1384043-6737-9D29-260A-04D3DDF9F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6880" y="3154839"/>
            <a:ext cx="96012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2972E6CC-1153-F3F3-7919-AB7989C1D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640" y="3520599"/>
            <a:ext cx="502920" cy="50292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0B54441D-3F7F-E007-5AE5-3115BFF444AD}"/>
              </a:ext>
            </a:extLst>
          </p:cNvPr>
          <p:cNvSpPr/>
          <p:nvPr/>
        </p:nvSpPr>
        <p:spPr>
          <a:xfrm>
            <a:off x="929640" y="352059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3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7D72D92D-D2B1-3582-7A1A-70CA5E0FB175}"/>
              </a:ext>
            </a:extLst>
          </p:cNvPr>
          <p:cNvSpPr/>
          <p:nvPr/>
        </p:nvSpPr>
        <p:spPr>
          <a:xfrm>
            <a:off x="1706880" y="342915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this line last edited, by whom, and why?</a:t>
            </a:r>
            <a:endParaRPr lang="en-US" sz="22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019C531F-072D-8030-9660-7278332CC65C}"/>
              </a:ext>
            </a:extLst>
          </p:cNvPr>
          <p:cNvSpPr/>
          <p:nvPr/>
        </p:nvSpPr>
        <p:spPr>
          <a:xfrm>
            <a:off x="1706880" y="393207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has provenance: commit, author, message.</a:t>
            </a:r>
            <a:endParaRPr lang="en-US" sz="140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CF31445B-4F7E-80E2-3B7A-1EBD3A48A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6880" y="4663599"/>
            <a:ext cx="96012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57051EEC-8864-BE2D-FC02-D02AADDE6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640" y="5029359"/>
            <a:ext cx="502920" cy="50292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75154B38-464C-A880-9AD2-D15F3D01013A}"/>
              </a:ext>
            </a:extLst>
          </p:cNvPr>
          <p:cNvSpPr/>
          <p:nvPr/>
        </p:nvSpPr>
        <p:spPr>
          <a:xfrm>
            <a:off x="929640" y="502935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3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6335B7FB-4FE4-C285-158A-29464ABF0302}"/>
              </a:ext>
            </a:extLst>
          </p:cNvPr>
          <p:cNvSpPr/>
          <p:nvPr/>
        </p:nvSpPr>
        <p:spPr>
          <a:xfrm>
            <a:off x="1706880" y="493791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last 1000 revisions, when did this test start failing?</a:t>
            </a:r>
            <a:endParaRPr lang="en-US" sz="22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9F2831B-70FC-5DFD-0E16-9E07C9184FD2}"/>
              </a:ext>
            </a:extLst>
          </p:cNvPr>
          <p:cNvSpPr/>
          <p:nvPr/>
        </p:nvSpPr>
        <p:spPr>
          <a:xfrm>
            <a:off x="1706880" y="544083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Binary-search history to pinpoint the regression.</a:t>
            </a:r>
            <a:endParaRPr lang="en-US" sz="1400" dirty="0"/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4E04466A-EC6F-771F-8BBE-317C096D5A7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594519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 VCS lets you answer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89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644A6-F7CE-250C-17FE-E7EE4C6E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63AAB9-C381-DACC-8425-D9C30996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4A73878A-9C89-4B35-5320-FD5AC5C74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9BDB5087-8223-E437-BC20-7BD1CBFD0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de facto standard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7"/>
          <p:cNvSpPr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VCSs exist such as Perforce, Subversion, Team Server, etc.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48640" y="2423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-1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</a:t>
            </a:r>
            <a:r>
              <a:rPr lang="en-US" sz="7200" b="1" kern="0" spc="-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won.</a:t>
            </a:r>
            <a:endParaRPr lang="en-US" sz="7200" dirty="0"/>
          </a:p>
        </p:txBody>
      </p:sp>
      <p:sp>
        <p:nvSpPr>
          <p:cNvPr id="13" name="Text 9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interface is famously rough - but its </a:t>
            </a:r>
            <a:r>
              <a:rPr lang="en-US" sz="17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design is beautiful</a:t>
            </a: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" y="4251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ugly interface must be memorized. A clean design can be understood.</a:t>
            </a:r>
            <a:endParaRPr lang="en-US" sz="1400" dirty="0"/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01989" y="1920240"/>
            <a:ext cx="4114800" cy="3108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696200" y="203829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8000" dirty="0"/>
          </a:p>
        </p:txBody>
      </p:sp>
      <p:sp>
        <p:nvSpPr>
          <p:cNvPr id="17" name="Text 13"/>
          <p:cNvSpPr/>
          <p:nvPr/>
        </p:nvSpPr>
        <p:spPr>
          <a:xfrm>
            <a:off x="8171986" y="2286001"/>
            <a:ext cx="334945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has been described as a stupid content tracker - and that's exactly why it works.</a:t>
            </a:r>
            <a:endParaRPr lang="en-US" sz="1700" dirty="0"/>
          </a:p>
        </p:txBody>
      </p:sp>
      <p:sp>
        <p:nvSpPr>
          <p:cNvPr id="18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76309" y="4526280"/>
            <a:ext cx="457200" cy="0"/>
          </a:xfrm>
          <a:prstGeom prst="line">
            <a:avLst/>
          </a:prstGeom>
          <a:noFill/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876309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(paraphrased)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EBA68-E9FA-3358-DE2F-1ADA23AD4F5D}"/>
              </a:ext>
            </a:extLst>
          </p:cNvPr>
          <p:cNvSpPr txBox="1"/>
          <p:nvPr/>
        </p:nvSpPr>
        <p:spPr>
          <a:xfrm>
            <a:off x="3875787" y="6429358"/>
            <a:ext cx="6099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1988D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https://en.wikipedia.org/wiki/Comparison_of_version-control_software</a:t>
            </a:r>
            <a:r>
              <a:rPr lang="en-US" sz="1400" dirty="0">
                <a:solidFill>
                  <a:srgbClr val="1988DC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379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BFD30-66DE-0D25-4D6A-258303BA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E8FD43-DE5E-9696-6E3F-DCF9F5E2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750B18AF-C5AC-AF5C-F7E9-1D16B7EF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6CE6169E-627B-9DD0-9FA8-B03D73393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7" name="Text 5"/>
          <p:cNvSpPr>
            <a:spLocks noGrp="1"/>
          </p:cNvSpPr>
          <p:nvPr>
            <p:ph type="title" idx="4294967295"/>
          </p:nvPr>
        </p:nvSpPr>
        <p:spPr>
          <a:xfrm>
            <a:off x="915737" y="943495"/>
            <a:ext cx="10972800" cy="3657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5737" y="1354975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data model first.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5737" y="2269375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later.</a:t>
            </a:r>
            <a:endParaRPr lang="en-US" sz="48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737" y="3366655"/>
            <a:ext cx="54864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5737" y="3595255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see what Git is actually storing, every command stops being magic and starts being a graph operation.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46065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972A2-1E4E-19E5-447D-620185334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0765C6-6307-9B6A-5A7A-6198E396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079F525F-B132-46D9-706F-CE9D63E01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848DBD83-7DFC-BB02-F571-8AC693F2D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3774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kern="0" spc="-8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5" name="Text 1"/>
          <p:cNvSpPr/>
          <p:nvPr/>
        </p:nvSpPr>
        <p:spPr>
          <a:xfrm>
            <a:off x="45720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7" name="Text 2"/>
          <p:cNvSpPr>
            <a:spLocks noGrp="1"/>
          </p:cNvSpPr>
          <p:nvPr>
            <p:ph type="title" idx="4294967295"/>
          </p:nvPr>
        </p:nvSpPr>
        <p:spPr>
          <a:xfrm>
            <a:off x="4572000" y="3108960"/>
            <a:ext cx="7132320" cy="10058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4160520"/>
            <a:ext cx="73152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4572000" y="4343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Blobs, trees, commits, refs.   Four ideas — that's the whole thing.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14880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724E4-6E77-8387-86CD-B1F4511E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CCD34-DAC6-F99E-B948-90ADD999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8425CB3E-CDDF-A8AF-AF5C-C43AF4A01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132874AD-77F9-AEB1-1847-8585EAED7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9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Git repository?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194560"/>
            <a:ext cx="3657600" cy="1828800"/>
          </a:xfrm>
          <a:prstGeom prst="rect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972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· trees · commits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content-addressed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242316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2194560"/>
            <a:ext cx="3657600" cy="182880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HEAD · tags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436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mutable, human-readable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0" y="24231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8000" dirty="0"/>
          </a:p>
        </p:txBody>
      </p:sp>
      <p:sp>
        <p:nvSpPr>
          <p:cNvPr id="20" name="Text 17"/>
          <p:cNvSpPr/>
          <p:nvPr/>
        </p:nvSpPr>
        <p:spPr>
          <a:xfrm>
            <a:off x="1042416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1238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4C4F4-F620-5C2B-9631-D71F7D88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023DFF-677A-3CC8-22DA-EEF34F5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D1777AB1-20D4-99F9-9C16-B7BBBC3DB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2F4B8ABB-3440-21E1-D427-A32A735B1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77E14FD0-21D8-5D18-050F-086A668E29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Git repository?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CF6669F-9D26-F5AC-0E85-D2F783F8D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194560"/>
            <a:ext cx="3657600" cy="1828800"/>
          </a:xfrm>
          <a:prstGeom prst="rect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E3ED2BC-B74F-9B7C-EC7A-A8B5C891571D}"/>
              </a:ext>
            </a:extLst>
          </p:cNvPr>
          <p:cNvSpPr/>
          <p:nvPr/>
        </p:nvSpPr>
        <p:spPr>
          <a:xfrm>
            <a:off x="10972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45B33F8-399F-4A23-8B1B-C5F882971F38}"/>
              </a:ext>
            </a:extLst>
          </p:cNvPr>
          <p:cNvSpPr/>
          <p:nvPr/>
        </p:nvSpPr>
        <p:spPr>
          <a:xfrm>
            <a:off x="10972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· trees · commits</a:t>
            </a:r>
            <a:endParaRPr lang="en-US" sz="18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D878550-17E6-99F9-DAE8-B7CBF29B685B}"/>
              </a:ext>
            </a:extLst>
          </p:cNvPr>
          <p:cNvSpPr/>
          <p:nvPr/>
        </p:nvSpPr>
        <p:spPr>
          <a:xfrm>
            <a:off x="10972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content-addressed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C3B9348-D340-4E7D-3D55-2879252D14F1}"/>
              </a:ext>
            </a:extLst>
          </p:cNvPr>
          <p:cNvSpPr/>
          <p:nvPr/>
        </p:nvSpPr>
        <p:spPr>
          <a:xfrm>
            <a:off x="4937760" y="242316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F52D967-62F0-0B46-0C35-20A864BC9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2194560"/>
            <a:ext cx="3657600" cy="18288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7357421-7D04-DC76-D25E-FD5126882363}"/>
              </a:ext>
            </a:extLst>
          </p:cNvPr>
          <p:cNvSpPr/>
          <p:nvPr/>
        </p:nvSpPr>
        <p:spPr>
          <a:xfrm>
            <a:off x="59436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2DD8DAF-24F9-7043-4AC3-31D37115F203}"/>
              </a:ext>
            </a:extLst>
          </p:cNvPr>
          <p:cNvSpPr/>
          <p:nvPr/>
        </p:nvSpPr>
        <p:spPr>
          <a:xfrm>
            <a:off x="594360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HEAD · tags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7463DCF-B995-5645-F195-D3666AEE1C3B}"/>
              </a:ext>
            </a:extLst>
          </p:cNvPr>
          <p:cNvSpPr/>
          <p:nvPr/>
        </p:nvSpPr>
        <p:spPr>
          <a:xfrm>
            <a:off x="59436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mutable, human-readable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ED85C50-0995-D145-DAE2-20FE9DCC1D35}"/>
              </a:ext>
            </a:extLst>
          </p:cNvPr>
          <p:cNvSpPr/>
          <p:nvPr/>
        </p:nvSpPr>
        <p:spPr>
          <a:xfrm>
            <a:off x="9692640" y="24231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8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55D09AA-D7AD-A136-011A-5620CE06B6D1}"/>
              </a:ext>
            </a:extLst>
          </p:cNvPr>
          <p:cNvSpPr/>
          <p:nvPr/>
        </p:nvSpPr>
        <p:spPr>
          <a:xfrm>
            <a:off x="1042416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81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377B0-64A4-99EE-9274-AF4672EA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4B2BCC-5190-614D-4DE5-3F6AF82A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098BA79C-B2B0-D49D-38AD-41AEFC955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1C9A5EF5-5810-AA2D-1385-4C9D8F48B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Commit (Snapshot) Composition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F050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28800"/>
            <a:ext cx="5486400" cy="16459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- just a bunch of bytes. No name, no metadata. Pure content.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57600"/>
            <a:ext cx="5486400" cy="16459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- a map from names to blobs or other trees. That's it.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r>
              <a:rPr lang="en-US" sz="1000" b="1" kern="0" spc="300" dirty="0">
                <a:solidFill>
                  <a:srgbClr val="EB6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000" dirty="0">
              <a:solidFill>
                <a:srgbClr val="EB6E19"/>
              </a:solidFill>
            </a:endParaRPr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194560"/>
            <a:ext cx="1554480" cy="50292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2311" y="2240279"/>
            <a:ext cx="1371600" cy="411481"/>
          </a:xfrm>
          <a:prstGeom prst="rect">
            <a:avLst/>
          </a:prstGeom>
          <a:solidFill>
            <a:srgbClr val="0D1015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8A6FF"/>
                </a:solidFill>
              </a:rPr>
              <a:t>tree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&lt;root&gt;</a:t>
            </a:r>
            <a:endParaRPr lang="en-US" sz="9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2697480"/>
            <a:ext cx="0" cy="41148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108960"/>
            <a:ext cx="283464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108960"/>
            <a:ext cx="0" cy="27432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60" y="3108960"/>
            <a:ext cx="0" cy="27432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2280" y="3383280"/>
            <a:ext cx="1554480" cy="50292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8A6FF"/>
                </a:solidFill>
              </a:rPr>
              <a:t>tree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&lt;sub&gt;</a:t>
            </a:r>
            <a:endParaRPr lang="en-US" sz="9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46920" y="3383280"/>
            <a:ext cx="1554480" cy="502920"/>
          </a:xfrm>
          <a:prstGeom prst="rect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16771" y="3393471"/>
            <a:ext cx="1463039" cy="457200"/>
          </a:xfrm>
          <a:prstGeom prst="rect">
            <a:avLst/>
          </a:prstGeom>
          <a:solidFill>
            <a:srgbClr val="0D1015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5033"/>
                </a:solidFill>
              </a:rPr>
              <a:t>blob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file_2.txt</a:t>
            </a:r>
            <a:endParaRPr lang="en-US" sz="90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886200"/>
            <a:ext cx="0" cy="50292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2280" y="4389120"/>
            <a:ext cx="1554480" cy="502920"/>
          </a:xfrm>
          <a:prstGeom prst="rect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4434840"/>
            <a:ext cx="1417319" cy="411480"/>
          </a:xfrm>
          <a:prstGeom prst="rect">
            <a:avLst/>
          </a:prstGeom>
          <a:solidFill>
            <a:srgbClr val="0D1015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5033"/>
                </a:solidFill>
              </a:rPr>
              <a:t>blob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file_1.txt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4983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"git is wonderful"</a:t>
            </a:r>
            <a:endParaRPr lang="en-US" sz="10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FD6E377-B03B-76C0-691B-375D7123ED35}"/>
              </a:ext>
            </a:extLst>
          </p:cNvPr>
          <p:cNvSpPr/>
          <p:nvPr/>
        </p:nvSpPr>
        <p:spPr>
          <a:xfrm>
            <a:off x="4305969" y="5806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Git, each snapshot is called a </a:t>
            </a:r>
            <a:r>
              <a:rPr lang="en-US" sz="1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8141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548EA-3517-E128-170E-D836E7E8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9C847-CE06-CA83-50D3-B0A9D5C7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5DC0775C-E08D-6118-57A3-C604C8C60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26DEFC2E-5F8C-DFBF-D455-B961D6BA8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43186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Git, History is a DAG, not a line - points back to a </a:t>
            </a: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parent commits. </a:t>
            </a:r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3363" y="27066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set, not a single parent — because branches can merge.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113033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DAG</a:t>
            </a:r>
            <a:endParaRPr lang="en-US" sz="10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09130" y="2283421"/>
            <a:ext cx="545589" cy="1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979789" y="2448493"/>
            <a:ext cx="0" cy="1307592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35237" y="3756085"/>
            <a:ext cx="667512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58197" y="3756085"/>
            <a:ext cx="667512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55245" y="2242378"/>
            <a:ext cx="871632" cy="6523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21136" y="2466301"/>
            <a:ext cx="365755" cy="1103998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69277" y="2128453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2237" y="2128453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15197" y="2128453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8157" y="2128453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15197" y="3591493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8157" y="3591493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61117" y="3591493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36117" y="2100541"/>
            <a:ext cx="365760" cy="36576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549426" y="1762693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commit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4957" y="176269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40877" y="4002973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83577" y="4411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point from child → parent (the "comes before" relation).</a:t>
            </a:r>
            <a:endParaRPr lang="en-US" sz="1100" dirty="0"/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E2E7D5C8-3692-A659-0DB4-2991098D0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12277" y="2277863"/>
            <a:ext cx="483108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8502FC33-257C-24B0-1837-D66125C6F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135237" y="2259991"/>
            <a:ext cx="528826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FDE313F-97C9-B584-E7AA-B4AB4810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3363" y="3420315"/>
            <a:ext cx="6558531" cy="2666160"/>
            <a:chOff x="583363" y="3420315"/>
            <a:chExt cx="6558531" cy="2666160"/>
          </a:xfrm>
        </p:grpSpPr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6F9A98BD-A4C3-98E1-1E99-DA3CD3A3E4FA}"/>
                </a:ext>
              </a:extLst>
            </p:cNvPr>
            <p:cNvSpPr/>
            <p:nvPr/>
          </p:nvSpPr>
          <p:spPr>
            <a:xfrm>
              <a:off x="1295400" y="3420315"/>
              <a:ext cx="45719" cy="2666160"/>
            </a:xfrm>
            <a:prstGeom prst="rect">
              <a:avLst/>
            </a:prstGeom>
            <a:solidFill>
              <a:srgbClr val="F05033"/>
            </a:solidFill>
            <a:ln w="12700">
              <a:solidFill>
                <a:srgbClr val="F05033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Text 39">
              <a:extLst>
                <a:ext uri="{FF2B5EF4-FFF2-40B4-BE49-F238E27FC236}">
                  <a16:creationId xmlns:a16="http://schemas.microsoft.com/office/drawing/2014/main" id="{766CCB17-9B28-B6BD-94C5-3849E2C2809E}"/>
                </a:ext>
              </a:extLst>
            </p:cNvPr>
            <p:cNvSpPr/>
            <p:nvPr/>
          </p:nvSpPr>
          <p:spPr>
            <a:xfrm>
              <a:off x="583363" y="4411584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Commits</a:t>
              </a:r>
              <a:endParaRPr lang="en-US" sz="1100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0BAB960-AEAB-A49B-A161-1495100EF50F}"/>
                </a:ext>
              </a:extLst>
            </p:cNvPr>
            <p:cNvGrpSpPr/>
            <p:nvPr/>
          </p:nvGrpSpPr>
          <p:grpSpPr>
            <a:xfrm>
              <a:off x="1609774" y="3570299"/>
              <a:ext cx="5532120" cy="2395728"/>
              <a:chOff x="594360" y="3520440"/>
              <a:chExt cx="5532120" cy="2395728"/>
            </a:xfrm>
          </p:grpSpPr>
          <p:sp>
            <p:nvSpPr>
              <p:cNvPr id="60" name="Shape 10"/>
              <p:cNvSpPr/>
              <p:nvPr/>
            </p:nvSpPr>
            <p:spPr>
              <a:xfrm>
                <a:off x="594360" y="3611880"/>
                <a:ext cx="109728" cy="109728"/>
              </a:xfrm>
              <a:prstGeom prst="ellipse">
                <a:avLst/>
              </a:prstGeom>
              <a:solidFill>
                <a:srgbClr val="F05033"/>
              </a:solidFill>
              <a:ln w="12700">
                <a:solidFill>
                  <a:srgbClr val="F05033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 11"/>
              <p:cNvSpPr/>
              <p:nvPr/>
            </p:nvSpPr>
            <p:spPr>
              <a:xfrm>
                <a:off x="822960" y="3520440"/>
                <a:ext cx="53035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E6EDF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Immutable</a:t>
                </a:r>
                <a:endParaRPr lang="en-US" sz="1400" dirty="0"/>
              </a:p>
            </p:txBody>
          </p:sp>
          <p:sp>
            <p:nvSpPr>
              <p:cNvPr id="62" name="Text 12"/>
              <p:cNvSpPr/>
              <p:nvPr/>
            </p:nvSpPr>
            <p:spPr>
              <a:xfrm>
                <a:off x="822960" y="3813048"/>
                <a:ext cx="530352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8B949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Commits never change. "Edits" produce new commits.</a:t>
                </a:r>
                <a:endParaRPr lang="en-US" sz="1200" dirty="0"/>
              </a:p>
            </p:txBody>
          </p:sp>
          <p:sp>
            <p:nvSpPr>
              <p:cNvPr id="63" name="Shape 13"/>
              <p:cNvSpPr/>
              <p:nvPr/>
            </p:nvSpPr>
            <p:spPr>
              <a:xfrm>
                <a:off x="594360" y="4434840"/>
                <a:ext cx="109728" cy="109728"/>
              </a:xfrm>
              <a:prstGeom prst="ellipse">
                <a:avLst/>
              </a:prstGeom>
              <a:solidFill>
                <a:srgbClr val="F05033"/>
              </a:solidFill>
              <a:ln w="12700">
                <a:solidFill>
                  <a:srgbClr val="F05033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Text 14"/>
              <p:cNvSpPr/>
              <p:nvPr/>
            </p:nvSpPr>
            <p:spPr>
              <a:xfrm>
                <a:off x="822960" y="4343400"/>
                <a:ext cx="53035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E6EDF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Content-addressed</a:t>
                </a:r>
                <a:endParaRPr lang="en-US" sz="1400" dirty="0"/>
              </a:p>
            </p:txBody>
          </p:sp>
          <p:sp>
            <p:nvSpPr>
              <p:cNvPr id="65" name="Text 15"/>
              <p:cNvSpPr/>
              <p:nvPr/>
            </p:nvSpPr>
            <p:spPr>
              <a:xfrm>
                <a:off x="822960" y="4636008"/>
                <a:ext cx="530352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8B949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commit's identity is the hash of its content.</a:t>
                </a:r>
                <a:endParaRPr lang="en-US" sz="1200" dirty="0"/>
              </a:p>
            </p:txBody>
          </p:sp>
          <p:sp>
            <p:nvSpPr>
              <p:cNvPr id="66" name="Shape 16"/>
              <p:cNvSpPr/>
              <p:nvPr/>
            </p:nvSpPr>
            <p:spPr>
              <a:xfrm>
                <a:off x="594360" y="5257800"/>
                <a:ext cx="109728" cy="109728"/>
              </a:xfrm>
              <a:prstGeom prst="ellipse">
                <a:avLst/>
              </a:prstGeom>
              <a:solidFill>
                <a:srgbClr val="F05033"/>
              </a:solidFill>
              <a:ln w="12700">
                <a:solidFill>
                  <a:srgbClr val="F05033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Text 17"/>
              <p:cNvSpPr/>
              <p:nvPr/>
            </p:nvSpPr>
            <p:spPr>
              <a:xfrm>
                <a:off x="822960" y="5166360"/>
                <a:ext cx="53035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E6EDF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Linked</a:t>
                </a:r>
                <a:endParaRPr lang="en-US" sz="1400" dirty="0"/>
              </a:p>
            </p:txBody>
          </p:sp>
          <p:sp>
            <p:nvSpPr>
              <p:cNvPr id="68" name="Text 18"/>
              <p:cNvSpPr/>
              <p:nvPr/>
            </p:nvSpPr>
            <p:spPr>
              <a:xfrm>
                <a:off x="822960" y="5458968"/>
                <a:ext cx="530352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8B949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Each commit references its parents — forming the DAG.</a:t>
                </a:r>
                <a:endParaRPr 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91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C6930-035E-F010-3270-1D1A586A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770C4A-1120-2B91-679B-0AD00CD8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02346BA9-000F-7F52-AB5F-30FADF282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BA9FF4B3-EDF3-4241-679C-183E701DFD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of Git, in 8 lines of pseudocode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D2C2ED-6F68-A03B-76D0-EA8ACB059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97756" y="1665030"/>
            <a:ext cx="9006840" cy="3657600"/>
            <a:chOff x="1463040" y="1920240"/>
            <a:chExt cx="9006840" cy="3657600"/>
          </a:xfrm>
        </p:grpSpPr>
        <p:sp>
          <p:nvSpPr>
            <p:cNvPr id="9" name="Shape 7"/>
            <p:cNvSpPr/>
            <p:nvPr/>
          </p:nvSpPr>
          <p:spPr>
            <a:xfrm>
              <a:off x="1463040" y="1920240"/>
              <a:ext cx="7147560" cy="3657600"/>
            </a:xfrm>
            <a:prstGeom prst="rect">
              <a:avLst/>
            </a:prstGeom>
            <a:solidFill>
              <a:srgbClr val="0D1015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1627632" y="2084832"/>
              <a:ext cx="91440" cy="91440"/>
            </a:xfrm>
            <a:prstGeom prst="ellipse">
              <a:avLst/>
            </a:prstGeom>
            <a:solidFill>
              <a:srgbClr val="5A4040"/>
            </a:solidFill>
            <a:ln w="12700">
              <a:solidFill>
                <a:srgbClr val="5A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1773936" y="2084832"/>
              <a:ext cx="91440" cy="91440"/>
            </a:xfrm>
            <a:prstGeom prst="ellipse">
              <a:avLst/>
            </a:prstGeom>
            <a:solidFill>
              <a:srgbClr val="5A5040"/>
            </a:solidFill>
            <a:ln w="12700">
              <a:solidFill>
                <a:srgbClr val="5A5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1920240" y="2084832"/>
              <a:ext cx="91440" cy="91440"/>
            </a:xfrm>
            <a:prstGeom prst="ellipse">
              <a:avLst/>
            </a:prstGeom>
            <a:solidFill>
              <a:srgbClr val="40503F"/>
            </a:solidFill>
            <a:ln w="12700">
              <a:solidFill>
                <a:srgbClr val="40503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1691640" y="2331720"/>
              <a:ext cx="8778240" cy="3108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i="1" dirty="0">
                  <a:solidFill>
                    <a:srgbClr val="6E76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a file is a bunch of bytes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type </a:t>
              </a:r>
              <a:r>
                <a:rPr lang="en-US" sz="1500" dirty="0">
                  <a:solidFill>
                    <a:srgbClr val="FF99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blob</a:t>
              </a:r>
              <a:r>
                <a:rPr lang="en-US" sz="1500" dirty="0">
                  <a:solidFill>
                    <a:srgbClr val="F050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array&lt;byte&gt;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i="1" dirty="0">
                  <a:solidFill>
                    <a:srgbClr val="6E76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a directory contains named files and directories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type </a:t>
              </a:r>
              <a:r>
                <a:rPr lang="en-US" sz="1500" dirty="0">
                  <a:solidFill>
                    <a:srgbClr val="00B0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tree</a:t>
              </a:r>
              <a:r>
                <a:rPr lang="en-US" sz="1500" dirty="0">
                  <a:solidFill>
                    <a:srgbClr val="F050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map&lt;string, tree | blob&gt;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i="1" dirty="0">
                  <a:solidFill>
                    <a:srgbClr val="6E76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a commit has parents, metadata, and the top-level tree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type </a:t>
              </a:r>
              <a:r>
                <a:rPr lang="en-US" sz="1500" dirty="0">
                  <a:solidFill>
                    <a:srgbClr val="F050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commit </a:t>
              </a: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struct {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parents:  array&lt;commit&gt;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author:   string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message:  string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snapshot: tree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C9D1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5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-270510" y="55525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Three types — and the whole of Git's history follows from them.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C83E9-1E8C-2F7B-54A2-B47DB427E01F}"/>
              </a:ext>
            </a:extLst>
          </p:cNvPr>
          <p:cNvSpPr txBox="1"/>
          <p:nvPr/>
        </p:nvSpPr>
        <p:spPr>
          <a:xfrm>
            <a:off x="9208690" y="2173596"/>
            <a:ext cx="26541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project/</a:t>
            </a:r>
          </a:p>
          <a:p>
            <a:r>
              <a:rPr lang="en-US" sz="1400" dirty="0">
                <a:solidFill>
                  <a:schemeClr val="bg1"/>
                </a:solidFill>
              </a:rPr>
              <a:t>├ </a:t>
            </a:r>
            <a:r>
              <a:rPr lang="en-US" sz="1400" dirty="0">
                <a:solidFill>
                  <a:srgbClr val="FF99FF"/>
                </a:solidFill>
              </a:rPr>
              <a:t>README.md</a:t>
            </a:r>
          </a:p>
          <a:p>
            <a:r>
              <a:rPr lang="en-US" sz="1400" dirty="0">
                <a:solidFill>
                  <a:schemeClr val="bg1"/>
                </a:solidFill>
              </a:rPr>
              <a:t> └── </a:t>
            </a:r>
            <a:r>
              <a:rPr lang="en-US" sz="1400" dirty="0" err="1">
                <a:solidFill>
                  <a:srgbClr val="00B050"/>
                </a:solidFill>
              </a:rPr>
              <a:t>src</a:t>
            </a:r>
            <a:r>
              <a:rPr lang="en-US" sz="1400" dirty="0">
                <a:solidFill>
                  <a:srgbClr val="00B050"/>
                </a:solidFill>
              </a:rPr>
              <a:t>/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└── </a:t>
            </a:r>
            <a:r>
              <a:rPr lang="en-US" sz="1400" dirty="0">
                <a:solidFill>
                  <a:srgbClr val="FF99FF"/>
                </a:solidFill>
              </a:rPr>
              <a:t>main.py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5EE7A3-9EEC-AFCA-81DA-AE92ECA08877}"/>
              </a:ext>
            </a:extLst>
          </p:cNvPr>
          <p:cNvSpPr txBox="1"/>
          <p:nvPr/>
        </p:nvSpPr>
        <p:spPr>
          <a:xfrm>
            <a:off x="8617652" y="3224788"/>
            <a:ext cx="34537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project</a:t>
            </a:r>
            <a:r>
              <a:rPr lang="en-US" sz="1400" dirty="0">
                <a:solidFill>
                  <a:schemeClr val="bg1"/>
                </a:solidFill>
              </a:rPr>
              <a:t> representation: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C4F63D1-3E75-2334-3620-7A3F79EF5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130006"/>
              </p:ext>
            </p:extLst>
          </p:nvPr>
        </p:nvGraphicFramePr>
        <p:xfrm>
          <a:off x="8826249" y="3621525"/>
          <a:ext cx="3036570" cy="131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9776">
                  <a:extLst>
                    <a:ext uri="{9D8B030D-6E8A-4147-A177-3AD203B41FA5}">
                      <a16:colId xmlns:a16="http://schemas.microsoft.com/office/drawing/2014/main" val="953892763"/>
                    </a:ext>
                  </a:extLst>
                </a:gridCol>
                <a:gridCol w="1756794">
                  <a:extLst>
                    <a:ext uri="{9D8B030D-6E8A-4147-A177-3AD203B41FA5}">
                      <a16:colId xmlns:a16="http://schemas.microsoft.com/office/drawing/2014/main" val="1568467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99FF"/>
                          </a:solidFill>
                        </a:rPr>
                        <a:t>“README.md”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blob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0727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rgbClr val="00B050"/>
                          </a:solidFill>
                        </a:rPr>
                        <a:t>src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”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tree</a:t>
                      </a:r>
                    </a:p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31990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4C3A453-1E6C-894C-FA67-E104FF758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735932"/>
              </p:ext>
            </p:extLst>
          </p:nvPr>
        </p:nvGraphicFramePr>
        <p:xfrm>
          <a:off x="10233196" y="4368978"/>
          <a:ext cx="150160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0104">
                  <a:extLst>
                    <a:ext uri="{9D8B030D-6E8A-4147-A177-3AD203B41FA5}">
                      <a16:colId xmlns:a16="http://schemas.microsoft.com/office/drawing/2014/main" val="95389276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568467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99FF"/>
                          </a:solidFill>
                        </a:rPr>
                        <a:t>“main.py”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blob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072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84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A13BF-8BCC-E1BC-E900-A4E458CDD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148059-8C61-F8E3-49EE-64DA2CAF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20CE8112-4072-5CEE-7D1B-D6954C78A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E5414A08-FFF4-649D-F28B-73BFB0EDC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Objects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 blob, tree, or commit.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is stored under a key derived from its </a:t>
            </a:r>
            <a:r>
              <a:rPr lang="en-US" sz="1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hash (20 bytes)</a:t>
            </a: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 → same hash. Different content → (practically) different hash.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30752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files across history share one stored copy.</a:t>
            </a:r>
            <a:endParaRPr lang="en-US" sz="12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553712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tampering changes the hash — corruption is detectable.</a:t>
            </a:r>
            <a:endParaRPr lang="en-US" sz="12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376672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by hash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577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link to other objects by ID, never by inclusion.</a:t>
            </a:r>
            <a:endParaRPr lang="en-US" sz="12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1920240"/>
            <a:ext cx="4663440" cy="2346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4032" y="2084832"/>
            <a:ext cx="91440" cy="91440"/>
          </a:xfrm>
          <a:prstGeom prst="ellipse">
            <a:avLst/>
          </a:prstGeom>
          <a:solidFill>
            <a:srgbClr val="5A4040"/>
          </a:solidFill>
          <a:ln w="12700">
            <a:solidFill>
              <a:srgbClr val="5A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0336" y="2084832"/>
            <a:ext cx="91440" cy="91440"/>
          </a:xfrm>
          <a:prstGeom prst="ellipse">
            <a:avLst/>
          </a:prstGeom>
          <a:solidFill>
            <a:srgbClr val="5A5040"/>
          </a:solidFill>
          <a:ln w="12700">
            <a:solidFill>
              <a:srgbClr val="5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2084832"/>
            <a:ext cx="91440" cy="91440"/>
          </a:xfrm>
          <a:prstGeom prst="ellipse">
            <a:avLst/>
          </a:prstGeom>
          <a:solidFill>
            <a:srgbClr val="40503F"/>
          </a:solidFill>
          <a:ln w="12700">
            <a:solidFill>
              <a:srgbClr val="405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78040" y="233172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 = map&lt;string, object&gt;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= sha1(object)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objects[id] = object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objects[id]</a:t>
            </a:r>
            <a:endParaRPr lang="en-US" sz="130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4499550"/>
            <a:ext cx="4663440" cy="7772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0" y="4590990"/>
            <a:ext cx="4480560" cy="594360"/>
          </a:xfrm>
          <a:prstGeom prst="rect">
            <a:avLst/>
          </a:prstGeom>
          <a:solidFill>
            <a:srgbClr val="0D1015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</a:rPr>
              <a:t>EXAMPLE HASH</a:t>
            </a:r>
            <a:endParaRPr lang="en-US" sz="9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4448adbf7ecd394f42ae135bbeed9676e894af85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E4C11D-CF8D-5F80-4102-9F07826FCE03}"/>
              </a:ext>
            </a:extLst>
          </p:cNvPr>
          <p:cNvSpPr txBox="1"/>
          <p:nvPr/>
        </p:nvSpPr>
        <p:spPr>
          <a:xfrm>
            <a:off x="6949440" y="5480805"/>
            <a:ext cx="4175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99FF"/>
                </a:solidFill>
              </a:rPr>
              <a:t>List objects:        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</a:rPr>
              <a:t>git rev-list --objects –all</a:t>
            </a:r>
          </a:p>
          <a:p>
            <a:r>
              <a:rPr lang="en-US" sz="1400" dirty="0">
                <a:solidFill>
                  <a:srgbClr val="FF99FF"/>
                </a:solidFill>
              </a:rPr>
              <a:t>Inspect objects: 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</a:rPr>
              <a:t>git cat-file -p [</a:t>
            </a:r>
            <a:r>
              <a:rPr lang="en-US" sz="1300" dirty="0" err="1">
                <a:solidFill>
                  <a:srgbClr val="C9D1D9"/>
                </a:solidFill>
                <a:latin typeface="Consolas" pitchFamily="34" charset="0"/>
              </a:rPr>
              <a:t>object_hash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</a:rPr>
              <a:t>]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                  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</a:rPr>
              <a:t>git cat-file -t [</a:t>
            </a:r>
            <a:r>
              <a:rPr lang="en-US" sz="1300" dirty="0" err="1">
                <a:solidFill>
                  <a:srgbClr val="C9D1D9"/>
                </a:solidFill>
                <a:latin typeface="Consolas" pitchFamily="34" charset="0"/>
              </a:rPr>
              <a:t>object_hash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294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2A011-BAF7-1DB0-9A17-4D208F16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8B66C8-6233-0816-2A32-30A97AD9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54821945-B27E-1DCD-ED70-97A170453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5451B314-44A1-EE89-7591-FCD6D7D52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546D2F7-80CF-DEBD-5F83-F78BEC0A1E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Git repository?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322BF28-7AF6-A04C-6D14-CA05AC90B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194560"/>
            <a:ext cx="3657600" cy="18288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A137F71-58A7-3141-3AAD-34CAF70D562E}"/>
              </a:ext>
            </a:extLst>
          </p:cNvPr>
          <p:cNvSpPr/>
          <p:nvPr/>
        </p:nvSpPr>
        <p:spPr>
          <a:xfrm>
            <a:off x="1097280" y="2331720"/>
            <a:ext cx="365760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5B9D43F-70DB-AA41-A96E-70F6606A29A7}"/>
              </a:ext>
            </a:extLst>
          </p:cNvPr>
          <p:cNvSpPr/>
          <p:nvPr/>
        </p:nvSpPr>
        <p:spPr>
          <a:xfrm>
            <a:off x="1097280" y="2651760"/>
            <a:ext cx="36576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· trees · commits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869D0D8-1C21-026B-8C29-C522DBA62449}"/>
              </a:ext>
            </a:extLst>
          </p:cNvPr>
          <p:cNvSpPr/>
          <p:nvPr/>
        </p:nvSpPr>
        <p:spPr>
          <a:xfrm>
            <a:off x="1097280" y="3154680"/>
            <a:ext cx="365760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content-addressed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BAA2833-52D8-0A23-1B57-BC3842A9281F}"/>
              </a:ext>
            </a:extLst>
          </p:cNvPr>
          <p:cNvSpPr/>
          <p:nvPr/>
        </p:nvSpPr>
        <p:spPr>
          <a:xfrm>
            <a:off x="4937760" y="2423160"/>
            <a:ext cx="9144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A770528-F9E2-E288-922D-AF474383D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2194560"/>
            <a:ext cx="3657600" cy="182880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5321EEE-B67C-517C-33C2-AB6BB44799B9}"/>
              </a:ext>
            </a:extLst>
          </p:cNvPr>
          <p:cNvSpPr/>
          <p:nvPr/>
        </p:nvSpPr>
        <p:spPr>
          <a:xfrm>
            <a:off x="59436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CEC92AF-2A65-7278-5E7F-EA572E761EC6}"/>
              </a:ext>
            </a:extLst>
          </p:cNvPr>
          <p:cNvSpPr/>
          <p:nvPr/>
        </p:nvSpPr>
        <p:spPr>
          <a:xfrm>
            <a:off x="594360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HEAD · tags</a:t>
            </a:r>
            <a:endParaRPr lang="en-US" sz="18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48191AB-D0F7-9831-CF8F-3170D20234FC}"/>
              </a:ext>
            </a:extLst>
          </p:cNvPr>
          <p:cNvSpPr/>
          <p:nvPr/>
        </p:nvSpPr>
        <p:spPr>
          <a:xfrm>
            <a:off x="59436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mutable, human-readable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84EFCB5-7BCA-7E26-7799-E133994BB187}"/>
              </a:ext>
            </a:extLst>
          </p:cNvPr>
          <p:cNvSpPr/>
          <p:nvPr/>
        </p:nvSpPr>
        <p:spPr>
          <a:xfrm>
            <a:off x="9692640" y="24231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8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C5DF9E1-7E18-ECDB-0378-BC12AAFCF211}"/>
              </a:ext>
            </a:extLst>
          </p:cNvPr>
          <p:cNvSpPr/>
          <p:nvPr/>
        </p:nvSpPr>
        <p:spPr>
          <a:xfrm>
            <a:off x="1042416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84549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97AD1-8794-3E88-4141-D4F64EDC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DF0D74-785B-3F62-8800-F82B08B9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D3FA205A-6C7F-FC5B-F3EA-4EBF39BDA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8D8103F8-C121-5A9A-82F6-38A8BBFC3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References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are bad at remembering 40-character hex strings.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4448adbf7ecd394f42ae135bbeed9676e894af85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17520"/>
            <a:ext cx="4297680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</a:t>
            </a: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mutable pointers to commits, e.g.:</a:t>
            </a:r>
            <a:endParaRPr lang="en-US" sz="18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343400"/>
            <a:ext cx="13716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57400" y="4343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tip of the main branch of development</a:t>
            </a:r>
            <a:endParaRPr lang="en-US" sz="13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846320"/>
            <a:ext cx="137160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v1.2.0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4846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— a frozen pointer to a release</a:t>
            </a:r>
            <a:endParaRPr lang="en-US" sz="13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349240"/>
            <a:ext cx="1371600" cy="38404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57400" y="5349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right now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ARE POINTERS</a:t>
            </a:r>
            <a:endParaRPr lang="en-US" sz="10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114032" y="3822192"/>
            <a:ext cx="8229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936992" y="3822192"/>
            <a:ext cx="8229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759952" y="3822192"/>
            <a:ext cx="8229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582912" y="3822192"/>
            <a:ext cx="8229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3657600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3657600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0" y="3657600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0" y="3657600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41280" y="3657600"/>
            <a:ext cx="320040" cy="320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49840" y="3017520"/>
            <a:ext cx="50292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149840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900" dirty="0"/>
          </a:p>
        </p:txBody>
      </p:sp>
      <p:sp>
        <p:nvSpPr>
          <p:cNvPr id="36" name="Shap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5872" y="3291840"/>
            <a:ext cx="0" cy="36576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49840" y="2514600"/>
            <a:ext cx="502920" cy="27432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14984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900" dirty="0"/>
          </a:p>
        </p:txBody>
      </p:sp>
      <p:sp>
        <p:nvSpPr>
          <p:cNvPr id="39" name="Shap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5872" y="2788920"/>
            <a:ext cx="0" cy="22860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5240" y="4434840"/>
            <a:ext cx="59436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35240" y="44348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</a:t>
            </a:r>
            <a:endParaRPr lang="en-US" sz="900" dirty="0"/>
          </a:p>
        </p:txBody>
      </p:sp>
      <p:sp>
        <p:nvSpPr>
          <p:cNvPr id="42" name="Shap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936992" y="4069080"/>
            <a:ext cx="0" cy="36576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49440" y="518591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move; commits don't.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1987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4B3D6-4D64-6CA6-54FC-D6123D45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F6F302-8C4E-07CE-CB6B-91991F6D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896587D1-630C-1F93-278A-7F8131BA0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CD94BC5C-D63D-5D7A-75F8-30CEBFE93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5F83AA3-E559-349E-6C4A-3C7DD9B3B0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repository, really?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CFF8A36-548F-BDCD-9EC7-96945EEBE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194560"/>
            <a:ext cx="3657600" cy="1828800"/>
          </a:xfrm>
          <a:prstGeom prst="rect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B37B207-6A11-0611-B376-2833B5055018}"/>
              </a:ext>
            </a:extLst>
          </p:cNvPr>
          <p:cNvSpPr/>
          <p:nvPr/>
        </p:nvSpPr>
        <p:spPr>
          <a:xfrm>
            <a:off x="10972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0143B89-E9C4-6507-DC82-4823D5F511CA}"/>
              </a:ext>
            </a:extLst>
          </p:cNvPr>
          <p:cNvSpPr/>
          <p:nvPr/>
        </p:nvSpPr>
        <p:spPr>
          <a:xfrm>
            <a:off x="10972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· trees · commits</a:t>
            </a:r>
            <a:endParaRPr lang="en-US" sz="18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729EB11-C28B-EB5C-09EB-831F16C43BAF}"/>
              </a:ext>
            </a:extLst>
          </p:cNvPr>
          <p:cNvSpPr/>
          <p:nvPr/>
        </p:nvSpPr>
        <p:spPr>
          <a:xfrm>
            <a:off x="1201102" y="3154680"/>
            <a:ext cx="3449955" cy="365760"/>
          </a:xfrm>
          <a:prstGeom prst="rect">
            <a:avLst/>
          </a:prstGeom>
          <a:solidFill>
            <a:srgbClr val="0D101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content-addressed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D1CC11D-0D70-C586-07AD-C24096C1BB32}"/>
              </a:ext>
            </a:extLst>
          </p:cNvPr>
          <p:cNvSpPr/>
          <p:nvPr/>
        </p:nvSpPr>
        <p:spPr>
          <a:xfrm>
            <a:off x="4937760" y="242316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624DBEC-EB81-EF8F-0285-B37F3EB6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2194560"/>
            <a:ext cx="3657600" cy="182880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F87E048-9543-EEA1-8821-C6BACFA8D729}"/>
              </a:ext>
            </a:extLst>
          </p:cNvPr>
          <p:cNvSpPr/>
          <p:nvPr/>
        </p:nvSpPr>
        <p:spPr>
          <a:xfrm>
            <a:off x="59436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834AAB1-63AD-5104-61B0-2C106022DE23}"/>
              </a:ext>
            </a:extLst>
          </p:cNvPr>
          <p:cNvSpPr/>
          <p:nvPr/>
        </p:nvSpPr>
        <p:spPr>
          <a:xfrm>
            <a:off x="594360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HEAD · tags</a:t>
            </a:r>
            <a:endParaRPr lang="en-US" sz="18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CA1F742-D06B-8859-A940-2847EF6B96C2}"/>
              </a:ext>
            </a:extLst>
          </p:cNvPr>
          <p:cNvSpPr/>
          <p:nvPr/>
        </p:nvSpPr>
        <p:spPr>
          <a:xfrm>
            <a:off x="59436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mutable, human-readable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D9F7FE0-FF3D-C714-8305-B16E038B297D}"/>
              </a:ext>
            </a:extLst>
          </p:cNvPr>
          <p:cNvSpPr/>
          <p:nvPr/>
        </p:nvSpPr>
        <p:spPr>
          <a:xfrm>
            <a:off x="9692640" y="24231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8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33A471D-1275-B9DC-CD63-056734C63AB3}"/>
              </a:ext>
            </a:extLst>
          </p:cNvPr>
          <p:cNvSpPr/>
          <p:nvPr/>
        </p:nvSpPr>
        <p:spPr>
          <a:xfrm>
            <a:off x="1042416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48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C3AD9AF-16B2-E419-F0D7-68589C00C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572000"/>
            <a:ext cx="9385935" cy="13716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D3CCE96-5E6A-1ACC-A9C9-CDB1764DB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572000"/>
            <a:ext cx="73152" cy="1371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7343E18-11F0-CBCD-02F5-67A48E479917}"/>
              </a:ext>
            </a:extLst>
          </p:cNvPr>
          <p:cNvSpPr/>
          <p:nvPr/>
        </p:nvSpPr>
        <p:spPr>
          <a:xfrm>
            <a:off x="914400" y="4709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Git command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892500A-1744-EAA7-728E-D7352D229641}"/>
              </a:ext>
            </a:extLst>
          </p:cNvPr>
          <p:cNvSpPr/>
          <p:nvPr/>
        </p:nvSpPr>
        <p:spPr>
          <a:xfrm>
            <a:off x="91440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manipulates objects and references</a:t>
            </a:r>
            <a:r>
              <a:rPr lang="en-US" sz="2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that's the whole API.</a:t>
            </a:r>
            <a:endParaRPr lang="en-US" sz="22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7A4F619-4549-F6C6-BE04-4D17D3304431}"/>
              </a:ext>
            </a:extLst>
          </p:cNvPr>
          <p:cNvSpPr/>
          <p:nvPr/>
        </p:nvSpPr>
        <p:spPr>
          <a:xfrm>
            <a:off x="91440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feels mysterious, ask: what objects did it add? Which refs did it move?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52159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82253-F386-463C-5700-7C734391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9FD67C-59D7-B186-E205-7509DEC6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B58CBB0C-4F76-1B5C-35FD-E20B54663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CC011F71-8FC4-03F8-24C0-BFD65EA274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area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 a staging area at all?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always want to commit everything in your working directory.</a:t>
            </a:r>
            <a:endParaRPr lang="en-US" sz="14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27248"/>
            <a:ext cx="73152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finished two features — commit them separately.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630168"/>
            <a:ext cx="73152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added debug print statements alongside a bugfix — commit the fix, drop the prints.</a:t>
            </a:r>
            <a:endParaRPr lang="en-US" sz="13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your refactor is ready; the other half is a mess.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lets you craft each commit deliberately — not as a snapshot of mess.</a:t>
            </a:r>
            <a:endParaRPr lang="en-US" sz="1300" dirty="0"/>
          </a:p>
        </p:txBody>
      </p:sp>
      <p:sp>
        <p:nvSpPr>
          <p:cNvPr id="5" name="Text 16"/>
          <p:cNvSpPr/>
          <p:nvPr/>
        </p:nvSpPr>
        <p:spPr>
          <a:xfrm>
            <a:off x="7208520" y="92081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ZONES</a:t>
            </a:r>
            <a:endParaRPr lang="en-US" sz="1000" dirty="0"/>
          </a:p>
        </p:txBody>
      </p:sp>
      <p:sp>
        <p:nvSpPr>
          <p:cNvPr id="7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520" y="1332295"/>
            <a:ext cx="4114800" cy="822960"/>
          </a:xfrm>
          <a:prstGeom prst="rect">
            <a:avLst/>
          </a:prstGeom>
          <a:solidFill>
            <a:srgbClr val="0D1015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8"/>
          <p:cNvSpPr/>
          <p:nvPr/>
        </p:nvSpPr>
        <p:spPr>
          <a:xfrm>
            <a:off x="7208520" y="1332295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400" dirty="0"/>
          </a:p>
        </p:txBody>
      </p:sp>
      <p:sp>
        <p:nvSpPr>
          <p:cNvPr id="3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520" y="2658175"/>
            <a:ext cx="4114800" cy="822960"/>
          </a:xfrm>
          <a:prstGeom prst="rect">
            <a:avLst/>
          </a:prstGeom>
          <a:solidFill>
            <a:srgbClr val="0D1015"/>
          </a:solidFill>
          <a:ln w="1905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0"/>
          <p:cNvSpPr/>
          <p:nvPr/>
        </p:nvSpPr>
        <p:spPr>
          <a:xfrm>
            <a:off x="7208520" y="2658175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400" dirty="0"/>
          </a:p>
        </p:txBody>
      </p:sp>
      <p:sp>
        <p:nvSpPr>
          <p:cNvPr id="3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520" y="3984055"/>
            <a:ext cx="4114800" cy="822960"/>
          </a:xfrm>
          <a:prstGeom prst="rect">
            <a:avLst/>
          </a:prstGeom>
          <a:solidFill>
            <a:srgbClr val="0D1015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2"/>
          <p:cNvSpPr/>
          <p:nvPr/>
        </p:nvSpPr>
        <p:spPr>
          <a:xfrm>
            <a:off x="7208520" y="3984055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3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8920" y="2155255"/>
            <a:ext cx="0" cy="50292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4"/>
          <p:cNvSpPr/>
          <p:nvPr/>
        </p:nvSpPr>
        <p:spPr>
          <a:xfrm>
            <a:off x="8945880" y="2246695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200" dirty="0"/>
          </a:p>
        </p:txBody>
      </p:sp>
      <p:sp>
        <p:nvSpPr>
          <p:cNvPr id="3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8920" y="3481135"/>
            <a:ext cx="0" cy="50292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6"/>
          <p:cNvSpPr/>
          <p:nvPr/>
        </p:nvSpPr>
        <p:spPr>
          <a:xfrm>
            <a:off x="8945880" y="3572575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3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665720" y="2155255"/>
            <a:ext cx="0" cy="50292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7894320" y="224669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90062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E7E9E-0DFC-7636-A97D-2FC8369C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51C2A2-125C-A4C3-2F5D-3BCFF78B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A778BD1E-33FF-7398-6CA8-298D0204B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3AA01AB4-1C1C-0337-B27C-7D382779C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E2EEBD3-2722-3563-8559-32E15ADD5B72}"/>
              </a:ext>
            </a:extLst>
          </p:cNvPr>
          <p:cNvSpPr/>
          <p:nvPr/>
        </p:nvSpPr>
        <p:spPr>
          <a:xfrm>
            <a:off x="640080" y="23774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kern="0" spc="-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C0A84A1-19D7-17AC-D9CB-959A9A7CE670}"/>
              </a:ext>
            </a:extLst>
          </p:cNvPr>
          <p:cNvSpPr/>
          <p:nvPr/>
        </p:nvSpPr>
        <p:spPr>
          <a:xfrm>
            <a:off x="45720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717E690-27EF-1641-ABE4-A568031D68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0" y="3108960"/>
            <a:ext cx="7132320" cy="10058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AF53BC0-03CC-98BF-8E88-64E11428C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4160520"/>
            <a:ext cx="73152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03294E9-5A7D-4778-24B2-C8D89B63A3CB}"/>
              </a:ext>
            </a:extLst>
          </p:cNvPr>
          <p:cNvSpPr/>
          <p:nvPr/>
        </p:nvSpPr>
        <p:spPr>
          <a:xfrm>
            <a:off x="4572000" y="4343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you know the data model, every command is a graph operation.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33849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B13277-D003-7DB5-DC58-50768541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C2596-9116-A19E-9A8A-546A77D3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E57053A1-CFBD-548C-BC32-7B0457D2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4B5B25DA-DC20-B03B-0507-454397DD5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874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 (data lives in .git/)</a:t>
            </a:r>
            <a:endParaRPr lang="en-US" sz="11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32888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532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328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changed, what's staged, where am I</a:t>
            </a:r>
            <a:endParaRPr lang="en-US" sz="11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91256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1912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19125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changes into the staging area</a:t>
            </a:r>
            <a:endParaRPr lang="en-US" sz="11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9624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8496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84962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the staging area as a new commit</a:t>
            </a:r>
            <a:endParaRPr lang="en-US" sz="11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507992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507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45079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history of commits</a:t>
            </a:r>
            <a:endParaRPr lang="en-US" sz="11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166360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help &lt;cmd&gt;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5166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the docs are good</a:t>
            </a:r>
            <a:endParaRPr lang="en-US" sz="110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874520"/>
            <a:ext cx="4846320" cy="3108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31152" y="2039112"/>
            <a:ext cx="91440" cy="91440"/>
          </a:xfrm>
          <a:prstGeom prst="ellipse">
            <a:avLst/>
          </a:prstGeom>
          <a:solidFill>
            <a:srgbClr val="5A4040"/>
          </a:solidFill>
          <a:ln w="12700">
            <a:solidFill>
              <a:srgbClr val="5A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7456" y="2039112"/>
            <a:ext cx="91440" cy="91440"/>
          </a:xfrm>
          <a:prstGeom prst="ellipse">
            <a:avLst/>
          </a:prstGeom>
          <a:solidFill>
            <a:srgbClr val="5A5040"/>
          </a:solidFill>
          <a:ln w="12700">
            <a:solidFill>
              <a:srgbClr val="5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0" y="2039112"/>
            <a:ext cx="91440" cy="91440"/>
          </a:xfrm>
          <a:prstGeom prst="ellipse">
            <a:avLst/>
          </a:prstGeom>
          <a:solidFill>
            <a:srgbClr val="40503F"/>
          </a:solidFill>
          <a:ln w="12700">
            <a:solidFill>
              <a:srgbClr val="405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95160" y="228600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repo in .git/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file: README.md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'Initial commit'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(root-commit) 7a3f1b2]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12 insertions(+)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good commit messages — present tense, &lt; 50 chars subject, explain why.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65799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E73D7-0906-D448-052F-79A654AF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D3776-02C0-3CC0-6D66-F1D5DF08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812E819B-B041-578C-5294-5B61FCDA9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98E096D8-CEC3-A3C6-BE63-76DF9460F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Looking around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120" y="1863090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186309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--all --graph --decorate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53840" y="186309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history as a DAG</a:t>
            </a:r>
            <a:endParaRPr lang="en-US" sz="10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120" y="2521458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2000" y="252145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&lt;file&gt;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53840" y="252145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 vs. staging area</a:t>
            </a:r>
            <a:endParaRPr lang="en-US" sz="10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120" y="3179826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2000" y="317982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&lt;rev&gt; &lt;file&gt;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53840" y="317982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 one revision vs. another</a:t>
            </a:r>
            <a:endParaRPr lang="en-US" sz="10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120" y="3838194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2000" y="383819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&lt;rev&gt;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53840" y="383819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HEAD to point at &lt;rev&gt;</a:t>
            </a:r>
            <a:endParaRPr lang="en-US" sz="10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120" y="4496562"/>
            <a:ext cx="5760720" cy="5943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2000" y="449656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&lt;rev&gt;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53840" y="449656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 specific commit's changes</a:t>
            </a:r>
            <a:endParaRPr lang="en-US" sz="100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874520"/>
            <a:ext cx="4846320" cy="321640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31152" y="2039112"/>
            <a:ext cx="91440" cy="91440"/>
          </a:xfrm>
          <a:prstGeom prst="ellipse">
            <a:avLst/>
          </a:prstGeom>
          <a:solidFill>
            <a:srgbClr val="5A4040"/>
          </a:solidFill>
          <a:ln w="12700">
            <a:solidFill>
              <a:srgbClr val="5A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7456" y="2039112"/>
            <a:ext cx="91440" cy="91440"/>
          </a:xfrm>
          <a:prstGeom prst="ellipse">
            <a:avLst/>
          </a:prstGeom>
          <a:solidFill>
            <a:srgbClr val="5A5040"/>
          </a:solidFill>
          <a:ln w="12700">
            <a:solidFill>
              <a:srgbClr val="5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0" y="2039112"/>
            <a:ext cx="91440" cy="91440"/>
          </a:xfrm>
          <a:prstGeom prst="ellipse">
            <a:avLst/>
          </a:prstGeom>
          <a:solidFill>
            <a:srgbClr val="40503F"/>
          </a:solidFill>
          <a:ln w="12700">
            <a:solidFill>
              <a:srgbClr val="405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95160" y="228600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--graph --oneline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</a:t>
            </a:r>
            <a:r>
              <a:rPr lang="en-US" sz="13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9f2a31c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feature/auth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</a:t>
            </a:r>
            <a:r>
              <a:rPr lang="en-US" sz="13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a1b8e44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login flow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</a:t>
            </a:r>
            <a:r>
              <a:rPr lang="en-US" sz="13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7e2c0d1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passwords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</a:t>
            </a:r>
            <a:r>
              <a:rPr lang="en-US" sz="13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4b1f8e0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README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r>
              <a:rPr lang="en-US" sz="13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3c2d9a8 </a:t>
            </a: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commit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1255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F4BE1-2A7D-0493-4B8D-65C724A4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F58043-2E3D-1C62-4BDE-7FB809BE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F0EF7DA3-D748-3D5F-4479-616A8D77E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33070511-8303-B544-E81A-1F6A22AAA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Branching and merging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2880360" cy="7772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</a:t>
            </a:r>
            <a:endParaRPr lang="en-US" sz="11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1874520"/>
            <a:ext cx="2880360" cy="7772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&lt;name&gt;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</a:t>
            </a:r>
            <a:endParaRPr lang="en-US" sz="11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97480"/>
            <a:ext cx="2880360" cy="7772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&lt;name&gt;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branch</a:t>
            </a:r>
            <a:endParaRPr lang="en-US" sz="11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2697480"/>
            <a:ext cx="2880360" cy="7772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&lt;name&gt;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switch in one go</a:t>
            </a:r>
            <a:endParaRPr lang="en-US" sz="11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20440"/>
            <a:ext cx="2880360" cy="7772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&lt;rev&gt;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&lt;rev&gt; into current branch</a:t>
            </a:r>
            <a:endParaRPr lang="en-US" sz="11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3520440"/>
            <a:ext cx="2880360" cy="7772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0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&lt;base&gt;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your commits onto &lt;base&gt;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01865" y="174596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vs REBASE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01865" y="211172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 preserves the branch shape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01865" y="421484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— linear, replayed history</a:t>
            </a:r>
            <a:endParaRPr lang="en-US" sz="1100" dirty="0"/>
          </a:p>
        </p:txBody>
      </p:sp>
      <p:sp>
        <p:nvSpPr>
          <p:cNvPr id="43" name="Shap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512177" y="4882355"/>
            <a:ext cx="6858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197977" y="4882355"/>
            <a:ext cx="6858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883777" y="4882355"/>
            <a:ext cx="6858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569577" y="4882355"/>
            <a:ext cx="6858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3305" y="4763483"/>
            <a:ext cx="228600" cy="2286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9105" y="4763483"/>
            <a:ext cx="228600" cy="2286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4905" y="4763483"/>
            <a:ext cx="228600" cy="2286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50705" y="4763483"/>
            <a:ext cx="228600" cy="2286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36505" y="4763483"/>
            <a:ext cx="228600" cy="2286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end-state, different shape. Choose based on what you want history to read like.</a:t>
            </a:r>
            <a:endParaRPr lang="en-US" sz="11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054AD0A-8FA5-7B1E-7A66-F33091D1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37120" y="2413205"/>
            <a:ext cx="3112770" cy="1664478"/>
            <a:chOff x="7498080" y="2560320"/>
            <a:chExt cx="3840480" cy="2057400"/>
          </a:xfrm>
        </p:grpSpPr>
        <p:sp>
          <p:nvSpPr>
            <p:cNvPr id="72" name="Shape 0">
              <a:extLst>
                <a:ext uri="{FF2B5EF4-FFF2-40B4-BE49-F238E27FC236}">
                  <a16:creationId xmlns:a16="http://schemas.microsoft.com/office/drawing/2014/main" id="{527813D6-0594-19B2-7F45-969B81D6526F}"/>
                </a:ext>
              </a:extLst>
            </p:cNvPr>
            <p:cNvSpPr/>
            <p:nvPr/>
          </p:nvSpPr>
          <p:spPr>
            <a:xfrm flipH="1">
              <a:off x="7662672" y="3182112"/>
              <a:ext cx="822960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1">
              <a:extLst>
                <a:ext uri="{FF2B5EF4-FFF2-40B4-BE49-F238E27FC236}">
                  <a16:creationId xmlns:a16="http://schemas.microsoft.com/office/drawing/2014/main" id="{D17965E4-2BAD-7A7C-DC09-3FB857E50168}"/>
                </a:ext>
              </a:extLst>
            </p:cNvPr>
            <p:cNvSpPr/>
            <p:nvPr/>
          </p:nvSpPr>
          <p:spPr>
            <a:xfrm flipH="1">
              <a:off x="8485632" y="3182112"/>
              <a:ext cx="822960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">
              <a:extLst>
                <a:ext uri="{FF2B5EF4-FFF2-40B4-BE49-F238E27FC236}">
                  <a16:creationId xmlns:a16="http://schemas.microsoft.com/office/drawing/2014/main" id="{897CDAB8-DA5C-BA72-754D-1459517A0D59}"/>
                </a:ext>
              </a:extLst>
            </p:cNvPr>
            <p:cNvSpPr/>
            <p:nvPr/>
          </p:nvSpPr>
          <p:spPr>
            <a:xfrm flipH="1">
              <a:off x="9308592" y="3182112"/>
              <a:ext cx="822960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">
              <a:extLst>
                <a:ext uri="{FF2B5EF4-FFF2-40B4-BE49-F238E27FC236}">
                  <a16:creationId xmlns:a16="http://schemas.microsoft.com/office/drawing/2014/main" id="{9590D165-76FB-BDDA-40FD-9F6277547F75}"/>
                </a:ext>
              </a:extLst>
            </p:cNvPr>
            <p:cNvSpPr/>
            <p:nvPr/>
          </p:nvSpPr>
          <p:spPr>
            <a:xfrm flipH="1">
              <a:off x="10131552" y="3182112"/>
              <a:ext cx="822960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4">
              <a:extLst>
                <a:ext uri="{FF2B5EF4-FFF2-40B4-BE49-F238E27FC236}">
                  <a16:creationId xmlns:a16="http://schemas.microsoft.com/office/drawing/2014/main" id="{4995E7BB-1AB1-19F5-D5E4-06B62EEE2171}"/>
                </a:ext>
              </a:extLst>
            </p:cNvPr>
            <p:cNvSpPr/>
            <p:nvPr/>
          </p:nvSpPr>
          <p:spPr>
            <a:xfrm flipV="1">
              <a:off x="9308592" y="3182112"/>
              <a:ext cx="0" cy="914400"/>
            </a:xfrm>
            <a:prstGeom prst="line">
              <a:avLst/>
            </a:prstGeom>
            <a:noFill/>
            <a:ln w="19050">
              <a:solidFill>
                <a:srgbClr val="BC8CF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5">
              <a:extLst>
                <a:ext uri="{FF2B5EF4-FFF2-40B4-BE49-F238E27FC236}">
                  <a16:creationId xmlns:a16="http://schemas.microsoft.com/office/drawing/2014/main" id="{2CEFBA32-3D1B-AAB2-FCF6-8BBDCF6C419F}"/>
                </a:ext>
              </a:extLst>
            </p:cNvPr>
            <p:cNvSpPr/>
            <p:nvPr/>
          </p:nvSpPr>
          <p:spPr>
            <a:xfrm flipH="1">
              <a:off x="9308592" y="4096512"/>
              <a:ext cx="822960" cy="0"/>
            </a:xfrm>
            <a:prstGeom prst="line">
              <a:avLst/>
            </a:prstGeom>
            <a:noFill/>
            <a:ln w="19050">
              <a:solidFill>
                <a:srgbClr val="BC8CF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6">
              <a:extLst>
                <a:ext uri="{FF2B5EF4-FFF2-40B4-BE49-F238E27FC236}">
                  <a16:creationId xmlns:a16="http://schemas.microsoft.com/office/drawing/2014/main" id="{6B1EDDAA-E53D-C7F6-E879-402CF38CECAC}"/>
                </a:ext>
              </a:extLst>
            </p:cNvPr>
            <p:cNvSpPr/>
            <p:nvPr/>
          </p:nvSpPr>
          <p:spPr>
            <a:xfrm flipH="1">
              <a:off x="10131552" y="4096512"/>
              <a:ext cx="822960" cy="0"/>
            </a:xfrm>
            <a:prstGeom prst="line">
              <a:avLst/>
            </a:prstGeom>
            <a:noFill/>
            <a:ln w="19050">
              <a:solidFill>
                <a:srgbClr val="BC8CF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">
              <a:extLst>
                <a:ext uri="{FF2B5EF4-FFF2-40B4-BE49-F238E27FC236}">
                  <a16:creationId xmlns:a16="http://schemas.microsoft.com/office/drawing/2014/main" id="{C9598AFF-B07A-D64A-C697-005667655F43}"/>
                </a:ext>
              </a:extLst>
            </p:cNvPr>
            <p:cNvSpPr/>
            <p:nvPr/>
          </p:nvSpPr>
          <p:spPr>
            <a:xfrm>
              <a:off x="10954512" y="3182112"/>
              <a:ext cx="0" cy="914400"/>
            </a:xfrm>
            <a:prstGeom prst="line">
              <a:avLst/>
            </a:prstGeom>
            <a:noFill/>
            <a:ln w="19050">
              <a:solidFill>
                <a:srgbClr val="BC8CF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8">
              <a:extLst>
                <a:ext uri="{FF2B5EF4-FFF2-40B4-BE49-F238E27FC236}">
                  <a16:creationId xmlns:a16="http://schemas.microsoft.com/office/drawing/2014/main" id="{C31AE8B4-C373-207C-CA6E-EBF56A6111A4}"/>
                </a:ext>
              </a:extLst>
            </p:cNvPr>
            <p:cNvSpPr/>
            <p:nvPr/>
          </p:nvSpPr>
          <p:spPr>
            <a:xfrm>
              <a:off x="7498080" y="30175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F050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9">
              <a:extLst>
                <a:ext uri="{FF2B5EF4-FFF2-40B4-BE49-F238E27FC236}">
                  <a16:creationId xmlns:a16="http://schemas.microsoft.com/office/drawing/2014/main" id="{51BEFC93-2868-F5C6-9336-3F9827EEB357}"/>
                </a:ext>
              </a:extLst>
            </p:cNvPr>
            <p:cNvSpPr/>
            <p:nvPr/>
          </p:nvSpPr>
          <p:spPr>
            <a:xfrm>
              <a:off x="8321040" y="30175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F050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10">
              <a:extLst>
                <a:ext uri="{FF2B5EF4-FFF2-40B4-BE49-F238E27FC236}">
                  <a16:creationId xmlns:a16="http://schemas.microsoft.com/office/drawing/2014/main" id="{71D4C873-7F39-801B-632F-37F29CE441F8}"/>
                </a:ext>
              </a:extLst>
            </p:cNvPr>
            <p:cNvSpPr/>
            <p:nvPr/>
          </p:nvSpPr>
          <p:spPr>
            <a:xfrm>
              <a:off x="9144000" y="30175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F050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11">
              <a:extLst>
                <a:ext uri="{FF2B5EF4-FFF2-40B4-BE49-F238E27FC236}">
                  <a16:creationId xmlns:a16="http://schemas.microsoft.com/office/drawing/2014/main" id="{DB0F9E0F-9335-47C1-DD86-D65D127E57D1}"/>
                </a:ext>
              </a:extLst>
            </p:cNvPr>
            <p:cNvSpPr/>
            <p:nvPr/>
          </p:nvSpPr>
          <p:spPr>
            <a:xfrm>
              <a:off x="9966960" y="30175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F050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Shape 12">
              <a:extLst>
                <a:ext uri="{FF2B5EF4-FFF2-40B4-BE49-F238E27FC236}">
                  <a16:creationId xmlns:a16="http://schemas.microsoft.com/office/drawing/2014/main" id="{D8C67860-850E-82BA-AB79-29251B008529}"/>
                </a:ext>
              </a:extLst>
            </p:cNvPr>
            <p:cNvSpPr/>
            <p:nvPr/>
          </p:nvSpPr>
          <p:spPr>
            <a:xfrm>
              <a:off x="10789920" y="30175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Shape 13">
              <a:extLst>
                <a:ext uri="{FF2B5EF4-FFF2-40B4-BE49-F238E27FC236}">
                  <a16:creationId xmlns:a16="http://schemas.microsoft.com/office/drawing/2014/main" id="{EF787A26-2612-FD60-6614-5B22764147FE}"/>
                </a:ext>
              </a:extLst>
            </p:cNvPr>
            <p:cNvSpPr/>
            <p:nvPr/>
          </p:nvSpPr>
          <p:spPr>
            <a:xfrm>
              <a:off x="9144000" y="39319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BC8C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14">
              <a:extLst>
                <a:ext uri="{FF2B5EF4-FFF2-40B4-BE49-F238E27FC236}">
                  <a16:creationId xmlns:a16="http://schemas.microsoft.com/office/drawing/2014/main" id="{8318EA54-B9DD-A8D6-D55B-BAF3519D2259}"/>
                </a:ext>
              </a:extLst>
            </p:cNvPr>
            <p:cNvSpPr/>
            <p:nvPr/>
          </p:nvSpPr>
          <p:spPr>
            <a:xfrm>
              <a:off x="9966960" y="39319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BC8C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Shape 15">
              <a:extLst>
                <a:ext uri="{FF2B5EF4-FFF2-40B4-BE49-F238E27FC236}">
                  <a16:creationId xmlns:a16="http://schemas.microsoft.com/office/drawing/2014/main" id="{F30410FC-07FD-E825-2A68-9386711B86E4}"/>
                </a:ext>
              </a:extLst>
            </p:cNvPr>
            <p:cNvSpPr/>
            <p:nvPr/>
          </p:nvSpPr>
          <p:spPr>
            <a:xfrm>
              <a:off x="10789920" y="3931920"/>
              <a:ext cx="320040" cy="320040"/>
            </a:xfrm>
            <a:prstGeom prst="ellipse">
              <a:avLst/>
            </a:prstGeom>
            <a:solidFill>
              <a:srgbClr val="161B22"/>
            </a:solidFill>
            <a:ln w="25400">
              <a:solidFill>
                <a:srgbClr val="BC8C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16">
              <a:extLst>
                <a:ext uri="{FF2B5EF4-FFF2-40B4-BE49-F238E27FC236}">
                  <a16:creationId xmlns:a16="http://schemas.microsoft.com/office/drawing/2014/main" id="{E51FDF46-313F-3273-6C4A-141B6D0703DE}"/>
                </a:ext>
              </a:extLst>
            </p:cNvPr>
            <p:cNvSpPr/>
            <p:nvPr/>
          </p:nvSpPr>
          <p:spPr>
            <a:xfrm>
              <a:off x="10744200" y="2560320"/>
              <a:ext cx="502920" cy="274320"/>
            </a:xfrm>
            <a:prstGeom prst="rect">
              <a:avLst/>
            </a:prstGeom>
            <a:solidFill>
              <a:srgbClr val="3FB950"/>
            </a:solidFill>
            <a:ln w="127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3E0F2C22-26AC-FAE2-68A2-A0426E35F0C0}"/>
                </a:ext>
              </a:extLst>
            </p:cNvPr>
            <p:cNvSpPr/>
            <p:nvPr/>
          </p:nvSpPr>
          <p:spPr>
            <a:xfrm>
              <a:off x="10744200" y="2560320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D111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main</a:t>
              </a:r>
              <a:endParaRPr lang="en-US" sz="900" dirty="0"/>
            </a:p>
          </p:txBody>
        </p:sp>
        <p:sp>
          <p:nvSpPr>
            <p:cNvPr id="90" name="Shape 18">
              <a:extLst>
                <a:ext uri="{FF2B5EF4-FFF2-40B4-BE49-F238E27FC236}">
                  <a16:creationId xmlns:a16="http://schemas.microsoft.com/office/drawing/2014/main" id="{22663573-5DCE-F7AD-9034-BA44BF800190}"/>
                </a:ext>
              </a:extLst>
            </p:cNvPr>
            <p:cNvSpPr/>
            <p:nvPr/>
          </p:nvSpPr>
          <p:spPr>
            <a:xfrm>
              <a:off x="10698480" y="4343400"/>
              <a:ext cx="640080" cy="274320"/>
            </a:xfrm>
            <a:prstGeom prst="rect">
              <a:avLst/>
            </a:prstGeom>
            <a:solidFill>
              <a:srgbClr val="BC8CFF"/>
            </a:solidFill>
            <a:ln w="12700">
              <a:solidFill>
                <a:srgbClr val="BC8C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19">
              <a:extLst>
                <a:ext uri="{FF2B5EF4-FFF2-40B4-BE49-F238E27FC236}">
                  <a16:creationId xmlns:a16="http://schemas.microsoft.com/office/drawing/2014/main" id="{0C2F2779-C4A9-537B-D893-5D54F5275476}"/>
                </a:ext>
              </a:extLst>
            </p:cNvPr>
            <p:cNvSpPr/>
            <p:nvPr/>
          </p:nvSpPr>
          <p:spPr>
            <a:xfrm>
              <a:off x="10698480" y="434340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D111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feature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622856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42AC1-A18D-E7AE-7E4D-46E67986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8C341A-AD28-7F1D-FAB1-242ACE56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A31FC270-1BD2-C8A9-A5EE-C22B78280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EF5BF694-3A77-0C62-2547-A19B34CB7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13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Remotes : sharing repositories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3716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15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2194560"/>
            <a:ext cx="2743200" cy="1280160"/>
          </a:xfrm>
          <a:prstGeom prst="rect">
            <a:avLst/>
          </a:prstGeom>
          <a:solidFill>
            <a:srgbClr val="0D1015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1371600" y="21945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80467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100" dirty="0"/>
          </a:p>
        </p:txBody>
      </p:sp>
      <p:sp>
        <p:nvSpPr>
          <p:cNvPr id="18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194560"/>
            <a:ext cx="2743200" cy="128016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804672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0467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GitHub)</a:t>
            </a:r>
            <a:endParaRPr lang="en-US" sz="1100" dirty="0"/>
          </a:p>
        </p:txBody>
      </p:sp>
      <p:sp>
        <p:nvSpPr>
          <p:cNvPr id="21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2606040"/>
            <a:ext cx="3840480" cy="0"/>
          </a:xfrm>
          <a:prstGeom prst="line">
            <a:avLst/>
          </a:prstGeom>
          <a:noFill/>
          <a:ln w="22860">
            <a:solidFill>
              <a:srgbClr val="F050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16052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3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160520" y="3017520"/>
            <a:ext cx="3840480" cy="0"/>
          </a:xfrm>
          <a:prstGeom prst="line">
            <a:avLst/>
          </a:prstGeom>
          <a:noFill/>
          <a:ln w="2286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416052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/ git pull</a:t>
            </a:r>
            <a:endParaRPr lang="en-US" sz="1200" dirty="0"/>
          </a:p>
        </p:txBody>
      </p:sp>
      <p:sp>
        <p:nvSpPr>
          <p:cNvPr id="25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77299" y="3933610"/>
            <a:ext cx="8637401" cy="4114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2005899" y="393361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257859" y="393361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repo, set up origin</a:t>
            </a:r>
            <a:endParaRPr lang="en-US" sz="1200" dirty="0"/>
          </a:p>
        </p:txBody>
      </p:sp>
      <p:sp>
        <p:nvSpPr>
          <p:cNvPr id="28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77299" y="4409098"/>
            <a:ext cx="8637401" cy="4114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2005899" y="440909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&lt;name&gt; &lt;url&gt;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257859" y="440909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a new remote</a:t>
            </a:r>
            <a:endParaRPr lang="en-US" sz="1200" dirty="0"/>
          </a:p>
        </p:txBody>
      </p:sp>
      <p:sp>
        <p:nvSpPr>
          <p:cNvPr id="31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77299" y="4884586"/>
            <a:ext cx="8637401" cy="4114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2005899" y="488458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257859" y="488458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objects/refs from remote (no merge)</a:t>
            </a:r>
            <a:endParaRPr lang="en-US" sz="1200" dirty="0"/>
          </a:p>
        </p:txBody>
      </p:sp>
      <p:sp>
        <p:nvSpPr>
          <p:cNvPr id="34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77299" y="5360074"/>
            <a:ext cx="8637401" cy="4114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2005899" y="536007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257859" y="536007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merge in one step</a:t>
            </a:r>
            <a:endParaRPr lang="en-US" sz="1200" dirty="0"/>
          </a:p>
        </p:txBody>
      </p:sp>
      <p:sp>
        <p:nvSpPr>
          <p:cNvPr id="37" name="Shap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77299" y="5835562"/>
            <a:ext cx="8637401" cy="4114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2005899" y="583556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&lt;remote&gt; &lt;branch&gt;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257859" y="583556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commits, update remote ref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35095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0002F-9BC5-0304-AE57-D4BDA3E8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95D51-3622-1A1B-9922-D48015B4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BE72DB08-EA32-8DBA-2207-9A0D1D1DD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0566D2B9-80ED-65AF-A31D-A05A231A1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Undoing things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28800"/>
            <a:ext cx="5486400" cy="20574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28800"/>
            <a:ext cx="73152" cy="20574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--amend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last commit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most recent commit's message or content. Creates a new commit and moves the ref.</a:t>
            </a:r>
            <a:endParaRPr lang="en-US" sz="12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828800"/>
            <a:ext cx="5486400" cy="20574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828800"/>
            <a:ext cx="73152" cy="20574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&lt;file&gt;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 a file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file out of the staging area back to working-dir-only. Your edits stay intact.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77640"/>
            <a:ext cx="5486400" cy="20574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77640"/>
            <a:ext cx="73152" cy="20574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&lt;file&gt;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changes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away uncommitted changes to a file. This one is irreversible — use carefully.</a:t>
            </a:r>
            <a:endParaRPr lang="en-US" sz="12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3977640"/>
            <a:ext cx="5486400" cy="20574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3977640"/>
            <a:ext cx="73152" cy="2057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&lt;rev&gt;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Undo, safely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commit that reverses the effect of &lt;rev&gt;. History is preserved.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commits are immutable. "Undo" really means "new commit that fixes things."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31754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4191D-93B8-5EE6-71A4-71FFD975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4D50BB-4077-6385-FC8B-AEE29359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044A7A5B-D5E9-121F-E5FA-C212E1A68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A26F0050-FE0A-8E9F-9245-BEEA43E6B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toolkit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3657600" cy="17830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changes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shelve your working dir so you can switch tasks.</a:t>
            </a:r>
            <a:endParaRPr lang="en-US" sz="11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1874520"/>
            <a:ext cx="3657600" cy="17830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regression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Binary-search history to pinpoint when a bug appeared.</a:t>
            </a:r>
            <a:endParaRPr lang="en-US" sz="11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0" y="1874520"/>
            <a:ext cx="3657600" cy="17830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8388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wrote this?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8388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last author/commit for every line of a file.</a:t>
            </a:r>
            <a:endParaRPr lang="en-US" sz="11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03320"/>
            <a:ext cx="3657600" cy="17830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-i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history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4709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Reorder, squash, or edit commits before sharing them.</a:t>
            </a:r>
            <a:endParaRPr lang="en-US" sz="11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3703320"/>
            <a:ext cx="3657600" cy="17830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cherry-pick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 commit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80560" y="4709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one specific commit from another branch.</a:t>
            </a:r>
            <a:endParaRPr lang="en-US" sz="1100" dirty="0"/>
          </a:p>
        </p:txBody>
      </p:sp>
      <p:sp>
        <p:nvSpPr>
          <p:cNvPr id="2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0" y="3703320"/>
            <a:ext cx="3657600" cy="17830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8388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reflog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838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safety net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83880" y="4709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Git stashes every ref move — escape from mistakes.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960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day-one commands. Learn them as you hit the problems they solve.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16767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F62C2-E5D0-4940-60F5-848113147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97E2C-11EC-B14F-A5E9-A39716F3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EBE6330D-89EB-B890-B274-2D021F2E3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F50C869E-8701-AFEF-F051-030CA3507E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Configurations: .</a:t>
            </a:r>
            <a:r>
              <a:rPr kumimoji="0" lang="en-US" sz="3800" b="1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aliases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Git should pretend don't exist.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34640"/>
            <a:ext cx="5486400" cy="29260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999232"/>
            <a:ext cx="91440" cy="91440"/>
          </a:xfrm>
          <a:prstGeom prst="ellipse">
            <a:avLst/>
          </a:prstGeom>
          <a:solidFill>
            <a:srgbClr val="5A4040"/>
          </a:solidFill>
          <a:ln w="12700">
            <a:solidFill>
              <a:srgbClr val="5A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999232"/>
            <a:ext cx="91440" cy="91440"/>
          </a:xfrm>
          <a:prstGeom prst="ellipse">
            <a:avLst/>
          </a:prstGeom>
          <a:solidFill>
            <a:srgbClr val="5A5040"/>
          </a:solidFill>
          <a:ln w="12700">
            <a:solidFill>
              <a:srgbClr val="5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2999232"/>
            <a:ext cx="91440" cy="91440"/>
          </a:xfrm>
          <a:prstGeom prst="ellipse">
            <a:avLst/>
          </a:prstGeom>
          <a:solidFill>
            <a:srgbClr val="40503F"/>
          </a:solidFill>
          <a:ln w="12700">
            <a:solidFill>
              <a:srgbClr val="405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editor leftovers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*.swp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artifacts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aliases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long incantations into short verbs.</a:t>
            </a:r>
            <a:endParaRPr lang="en-US" sz="13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834640"/>
            <a:ext cx="5212080" cy="29260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65392" y="2999232"/>
            <a:ext cx="91440" cy="91440"/>
          </a:xfrm>
          <a:prstGeom prst="ellipse">
            <a:avLst/>
          </a:prstGeom>
          <a:solidFill>
            <a:srgbClr val="5A4040"/>
          </a:solidFill>
          <a:ln w="12700">
            <a:solidFill>
              <a:srgbClr val="5A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1696" y="2999232"/>
            <a:ext cx="91440" cy="91440"/>
          </a:xfrm>
          <a:prstGeom prst="ellipse">
            <a:avLst/>
          </a:prstGeom>
          <a:solidFill>
            <a:srgbClr val="5A5040"/>
          </a:solidFill>
          <a:ln w="12700">
            <a:solidFill>
              <a:srgbClr val="5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2999232"/>
            <a:ext cx="91440" cy="91440"/>
          </a:xfrm>
          <a:prstGeom prst="ellipse">
            <a:avLst/>
          </a:prstGeom>
          <a:solidFill>
            <a:srgbClr val="40503F"/>
          </a:solidFill>
          <a:ln w="12700">
            <a:solidFill>
              <a:srgbClr val="405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32461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alias.graph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"log --all --graph --decorate --oneline"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you can just run: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graph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18912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FF0F9-0C04-604F-DC9D-7F348301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8D4307-04CB-EFE6-E40B-C30390E7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3FC714BB-1E7C-C49D-4A4F-5452DB037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0ADA5CC1-89A3-329F-09D5-357AAA004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is not GitHub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20240"/>
            <a:ext cx="5440680" cy="4206240"/>
          </a:xfrm>
          <a:prstGeom prst="rect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30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154680"/>
            <a:ext cx="457200" cy="0"/>
          </a:xfrm>
          <a:prstGeom prst="line">
            <a:avLst/>
          </a:prstGeom>
          <a:noFill/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CLI created by Linus Torvalds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your machine; no internet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objects + references — that's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data model and commands</a:t>
            </a:r>
            <a:endParaRPr lang="en-US" sz="13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920240"/>
            <a:ext cx="5167697" cy="420624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514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hosting service</a:t>
            </a:r>
            <a:endParaRPr lang="en-US" sz="30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3154680"/>
            <a:ext cx="45720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product built on top of Git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pull requests, issues, CI, web UI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many — GitLab, Bitbucket, Codeberg…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works fine without any of them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63579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76E77-B570-05C2-E208-A3A2DCFD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1C7735-AB55-FD27-53A2-F802375C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E5466518-7890-BF3D-7AE8-C92730609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4AE8E98E-0542-1FA7-11E6-E41324758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remember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373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content tracker.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2194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Blobs, trees, commits — all hashed, all immutable.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73736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a DAG.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point to parents; branches diverge; merges join.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73736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are mutable names.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37360" y="3840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HEAD, tags — pointers to specific commits.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7373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is intentional.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73736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each commit deliberately; don't just dump state.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7373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manipulate the graph.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737360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confused, ask: what objects? which refs moved?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1523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472C6-9E66-CA42-8E0B-89610182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F56FE7-40F7-97DE-96A1-123DA114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64EC6BF4-8250-4467-F287-676CC25F5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CEN3031">
            <a:extLst>
              <a:ext uri="{FF2B5EF4-FFF2-40B4-BE49-F238E27FC236}">
                <a16:creationId xmlns:a16="http://schemas.microsoft.com/office/drawing/2014/main" id="{AC6A4CF9-E54A-F54B-20EA-FE60D2EF5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CD5FCBC-B91C-611D-267E-67BCAB4E2B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Other Resources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E96321-54E6-8A97-B524-324C93620DAF}"/>
              </a:ext>
            </a:extLst>
          </p:cNvPr>
          <p:cNvSpPr/>
          <p:nvPr/>
        </p:nvSpPr>
        <p:spPr>
          <a:xfrm>
            <a:off x="2490237" y="1454974"/>
            <a:ext cx="7837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Missing Semester Lecture and Tutorial: </a:t>
            </a: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https://missing.csail.mit.edu/2026/version-control/</a:t>
            </a: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C93D3C-D7D6-B055-9BD5-3E7011CE8936}"/>
              </a:ext>
            </a:extLst>
          </p:cNvPr>
          <p:cNvSpPr/>
          <p:nvPr/>
        </p:nvSpPr>
        <p:spPr>
          <a:xfrm>
            <a:off x="2490237" y="1783398"/>
            <a:ext cx="670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Will Finally Make Sense After This: </a:t>
            </a: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https://www.youtube.com/watch?v=Ala6PHlYjmw</a:t>
            </a: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DCE9C3A-BAC5-A9BE-72F3-EE342380F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7200" y="2286952"/>
            <a:ext cx="10467975" cy="4251960"/>
            <a:chOff x="457200" y="1762502"/>
            <a:chExt cx="11064240" cy="4251960"/>
          </a:xfrm>
        </p:grpSpPr>
        <p:sp>
          <p:nvSpPr>
            <p:cNvPr id="48" name="Shape 7"/>
            <p:cNvSpPr/>
            <p:nvPr/>
          </p:nvSpPr>
          <p:spPr>
            <a:xfrm>
              <a:off x="457200" y="1762502"/>
              <a:ext cx="11064240" cy="777240"/>
            </a:xfrm>
            <a:prstGeom prst="rect">
              <a:avLst/>
            </a:prstGeom>
            <a:solidFill>
              <a:srgbClr val="0D1015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8"/>
            <p:cNvSpPr/>
            <p:nvPr/>
          </p:nvSpPr>
          <p:spPr>
            <a:xfrm>
              <a:off x="777240" y="185394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050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 Git</a:t>
              </a:r>
              <a:endParaRPr lang="en-US" sz="1600" dirty="0"/>
            </a:p>
          </p:txBody>
        </p:sp>
        <p:sp>
          <p:nvSpPr>
            <p:cNvPr id="50" name="Text 9"/>
            <p:cNvSpPr/>
            <p:nvPr/>
          </p:nvSpPr>
          <p:spPr>
            <a:xfrm>
              <a:off x="777240" y="2173982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free official book — Chapters 1–5 cover almost everything you need.</a:t>
              </a:r>
              <a:endParaRPr lang="en-US" sz="1200" dirty="0"/>
            </a:p>
          </p:txBody>
        </p:sp>
        <p:sp>
          <p:nvSpPr>
            <p:cNvPr id="51" name="Text 10"/>
            <p:cNvSpPr/>
            <p:nvPr/>
          </p:nvSpPr>
          <p:spPr>
            <a:xfrm>
              <a:off x="7680960" y="1762502"/>
              <a:ext cx="3657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git-scm.com/book</a:t>
              </a:r>
              <a:endParaRPr lang="en-US" sz="1200" dirty="0"/>
            </a:p>
          </p:txBody>
        </p:sp>
        <p:sp>
          <p:nvSpPr>
            <p:cNvPr id="52" name="Shape 11"/>
            <p:cNvSpPr/>
            <p:nvPr/>
          </p:nvSpPr>
          <p:spPr>
            <a:xfrm>
              <a:off x="457200" y="2631182"/>
              <a:ext cx="11064240" cy="777240"/>
            </a:xfrm>
            <a:prstGeom prst="rect">
              <a:avLst/>
            </a:prstGeom>
            <a:solidFill>
              <a:srgbClr val="0D1015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12"/>
            <p:cNvSpPr/>
            <p:nvPr/>
          </p:nvSpPr>
          <p:spPr>
            <a:xfrm>
              <a:off x="777240" y="272262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050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Learn Git Branching</a:t>
              </a:r>
              <a:endParaRPr lang="en-US" sz="1600" dirty="0"/>
            </a:p>
          </p:txBody>
        </p:sp>
        <p:sp>
          <p:nvSpPr>
            <p:cNvPr id="54" name="Text 13"/>
            <p:cNvSpPr/>
            <p:nvPr/>
          </p:nvSpPr>
          <p:spPr>
            <a:xfrm>
              <a:off x="777240" y="3042662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Browser-based game that builds intuition for the commit graph.</a:t>
              </a:r>
              <a:endParaRPr lang="en-US" sz="1200" dirty="0"/>
            </a:p>
          </p:txBody>
        </p:sp>
        <p:sp>
          <p:nvSpPr>
            <p:cNvPr id="55" name="Text 14"/>
            <p:cNvSpPr/>
            <p:nvPr/>
          </p:nvSpPr>
          <p:spPr>
            <a:xfrm>
              <a:off x="7680960" y="2631182"/>
              <a:ext cx="3657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learngitbranching.js.org</a:t>
              </a:r>
              <a:endParaRPr lang="en-US" sz="1200" dirty="0"/>
            </a:p>
          </p:txBody>
        </p:sp>
        <p:sp>
          <p:nvSpPr>
            <p:cNvPr id="56" name="Shape 15"/>
            <p:cNvSpPr/>
            <p:nvPr/>
          </p:nvSpPr>
          <p:spPr>
            <a:xfrm>
              <a:off x="457200" y="3499862"/>
              <a:ext cx="11064240" cy="777240"/>
            </a:xfrm>
            <a:prstGeom prst="rect">
              <a:avLst/>
            </a:prstGeom>
            <a:solidFill>
              <a:srgbClr val="0D1015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16"/>
            <p:cNvSpPr/>
            <p:nvPr/>
          </p:nvSpPr>
          <p:spPr>
            <a:xfrm>
              <a:off x="777240" y="359130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050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Oh Shit, Git!?!</a:t>
              </a:r>
              <a:endParaRPr lang="en-US" sz="1600" dirty="0"/>
            </a:p>
          </p:txBody>
        </p:sp>
        <p:sp>
          <p:nvSpPr>
            <p:cNvPr id="58" name="Text 17"/>
            <p:cNvSpPr/>
            <p:nvPr/>
          </p:nvSpPr>
          <p:spPr>
            <a:xfrm>
              <a:off x="777240" y="3911342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Recovery recipes for common Git disasters — bookmark this one.</a:t>
              </a:r>
              <a:endParaRPr lang="en-US" sz="1200" dirty="0"/>
            </a:p>
          </p:txBody>
        </p:sp>
        <p:sp>
          <p:nvSpPr>
            <p:cNvPr id="59" name="Text 18"/>
            <p:cNvSpPr/>
            <p:nvPr/>
          </p:nvSpPr>
          <p:spPr>
            <a:xfrm>
              <a:off x="7680960" y="3499862"/>
              <a:ext cx="3657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ohshitgit.com</a:t>
              </a:r>
              <a:endParaRPr lang="en-US" sz="1200" dirty="0"/>
            </a:p>
          </p:txBody>
        </p:sp>
        <p:sp>
          <p:nvSpPr>
            <p:cNvPr id="60" name="Shape 19"/>
            <p:cNvSpPr/>
            <p:nvPr/>
          </p:nvSpPr>
          <p:spPr>
            <a:xfrm>
              <a:off x="457200" y="4368542"/>
              <a:ext cx="11064240" cy="777240"/>
            </a:xfrm>
            <a:prstGeom prst="rect">
              <a:avLst/>
            </a:prstGeom>
            <a:solidFill>
              <a:srgbClr val="0D1015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20"/>
            <p:cNvSpPr/>
            <p:nvPr/>
          </p:nvSpPr>
          <p:spPr>
            <a:xfrm>
              <a:off x="777240" y="445998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050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 for Computer Scientists</a:t>
              </a:r>
              <a:endParaRPr lang="en-US" sz="1600" dirty="0"/>
            </a:p>
          </p:txBody>
        </p:sp>
        <p:sp>
          <p:nvSpPr>
            <p:cNvPr id="62" name="Text 21"/>
            <p:cNvSpPr/>
            <p:nvPr/>
          </p:nvSpPr>
          <p:spPr>
            <a:xfrm>
              <a:off x="777240" y="4780022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Short, diagram-heavy walkthrough of the data model.</a:t>
              </a:r>
              <a:endParaRPr lang="en-US" sz="1200" dirty="0"/>
            </a:p>
          </p:txBody>
        </p:sp>
        <p:sp>
          <p:nvSpPr>
            <p:cNvPr id="63" name="Text 22"/>
            <p:cNvSpPr/>
            <p:nvPr/>
          </p:nvSpPr>
          <p:spPr>
            <a:xfrm>
              <a:off x="7680960" y="4368542"/>
              <a:ext cx="3657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https://eagain.net/articles/git-for-computer-scientists/ </a:t>
              </a:r>
              <a:endParaRPr lang="en-US" sz="1200" dirty="0"/>
            </a:p>
          </p:txBody>
        </p:sp>
        <p:sp>
          <p:nvSpPr>
            <p:cNvPr id="64" name="Shape 23"/>
            <p:cNvSpPr/>
            <p:nvPr/>
          </p:nvSpPr>
          <p:spPr>
            <a:xfrm>
              <a:off x="457200" y="5237222"/>
              <a:ext cx="11064240" cy="777240"/>
            </a:xfrm>
            <a:prstGeom prst="rect">
              <a:avLst/>
            </a:prstGeom>
            <a:solidFill>
              <a:srgbClr val="0D1015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24"/>
            <p:cNvSpPr/>
            <p:nvPr/>
          </p:nvSpPr>
          <p:spPr>
            <a:xfrm>
              <a:off x="777240" y="532866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050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 from the Bottom Up</a:t>
              </a:r>
              <a:endParaRPr lang="en-US" sz="1600" dirty="0"/>
            </a:p>
          </p:txBody>
        </p:sp>
        <p:sp>
          <p:nvSpPr>
            <p:cNvPr id="66" name="Text 25"/>
            <p:cNvSpPr/>
            <p:nvPr/>
          </p:nvSpPr>
          <p:spPr>
            <a:xfrm>
              <a:off x="777240" y="5648702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dive into implementation, beyond just the data model.</a:t>
              </a:r>
              <a:endParaRPr lang="en-US" sz="1200" dirty="0"/>
            </a:p>
          </p:txBody>
        </p:sp>
        <p:sp>
          <p:nvSpPr>
            <p:cNvPr id="67" name="Text 26"/>
            <p:cNvSpPr/>
            <p:nvPr/>
          </p:nvSpPr>
          <p:spPr>
            <a:xfrm>
              <a:off x="7680960" y="5237222"/>
              <a:ext cx="3657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8A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jwiegley.github.io/git-from-the-bottom-up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200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18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18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18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18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1800" dirty="0">
                <a:solidFill>
                  <a:schemeClr val="bg1"/>
                </a:solidFill>
                <a:latin typeface="Gotham Bold" pitchFamily="50" charset="0"/>
              </a:rPr>
            </a:br>
            <a:endParaRPr lang="en-US" sz="1800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85831A-2503-F24A-7A48-28E3F5EB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 descr="CC Licence">
            <a:extLst>
              <a:ext uri="{FF2B5EF4-FFF2-40B4-BE49-F238E27FC236}">
                <a16:creationId xmlns:a16="http://schemas.microsoft.com/office/drawing/2014/main" id="{E49D909E-7967-D592-85AD-AFFBD5975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876" y="6502331"/>
            <a:ext cx="666541" cy="23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 CEN3031">
            <a:extLst>
              <a:ext uri="{FF2B5EF4-FFF2-40B4-BE49-F238E27FC236}">
                <a16:creationId xmlns:a16="http://schemas.microsoft.com/office/drawing/2014/main" id="{FBA7BC78-E8B7-8D10-CFF1-DF7A2AD176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97" y="5735380"/>
            <a:ext cx="731520" cy="7315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6755" y="7848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see the graph,</a:t>
            </a:r>
            <a:endParaRPr lang="en-US" sz="5200" dirty="0"/>
          </a:p>
        </p:txBody>
      </p:sp>
      <p:sp>
        <p:nvSpPr>
          <p:cNvPr id="12" name="Text 6"/>
          <p:cNvSpPr/>
          <p:nvPr/>
        </p:nvSpPr>
        <p:spPr>
          <a:xfrm>
            <a:off x="706755" y="16078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being scary.</a:t>
            </a:r>
            <a:endParaRPr lang="en-US" sz="5200" dirty="0"/>
          </a:p>
        </p:txBody>
      </p:sp>
      <p:sp>
        <p:nvSpPr>
          <p:cNvPr id="13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475" y="2659380"/>
            <a:ext cx="82296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>
            <a:spLocks noGrp="1"/>
          </p:cNvSpPr>
          <p:nvPr>
            <p:ph type="title" idx="4294967295"/>
          </p:nvPr>
        </p:nvSpPr>
        <p:spPr>
          <a:xfrm>
            <a:off x="706755" y="2887980"/>
            <a:ext cx="10972800" cy="457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755" y="4076700"/>
            <a:ext cx="5486400" cy="6400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935355" y="40767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--graph --decorate --all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60447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5622</TotalTime>
  <Words>2207</Words>
  <Application>Microsoft Office PowerPoint</Application>
  <PresentationFormat>Widescreen</PresentationFormat>
  <Paragraphs>442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Gotham Bold</vt:lpstr>
      <vt:lpstr>1_Office Theme</vt:lpstr>
      <vt:lpstr>Version Control &amp; Git  Software Engineering (CEN 3031) </vt:lpstr>
      <vt:lpstr>   Version Control    </vt:lpstr>
      <vt:lpstr>Questions a VCS lets you answer</vt:lpstr>
      <vt:lpstr>Git is the de facto standard</vt:lpstr>
      <vt:lpstr>APPROACH</vt:lpstr>
      <vt:lpstr>The Data Model</vt:lpstr>
      <vt:lpstr>What is a Git repository?</vt:lpstr>
      <vt:lpstr>What is a Git repository?</vt:lpstr>
      <vt:lpstr>Commit (Snapshot) Composition</vt:lpstr>
      <vt:lpstr>Commit History</vt:lpstr>
      <vt:lpstr>Data Model of Git, in 8 lines of pseudocode</vt:lpstr>
      <vt:lpstr>Git Objects</vt:lpstr>
      <vt:lpstr>What is a Git repository?</vt:lpstr>
      <vt:lpstr>Git References</vt:lpstr>
      <vt:lpstr>What is a repository, really?</vt:lpstr>
      <vt:lpstr>The staging area</vt:lpstr>
      <vt:lpstr>The Commands</vt:lpstr>
      <vt:lpstr>The basics</vt:lpstr>
      <vt:lpstr>Looking around</vt:lpstr>
      <vt:lpstr>Collaboration: Branching and merging</vt:lpstr>
      <vt:lpstr>Remotes : sharing repositories</vt:lpstr>
      <vt:lpstr>Undoing things</vt:lpstr>
      <vt:lpstr>Advanced toolkit</vt:lpstr>
      <vt:lpstr>Configurations: .gitignore, aliases</vt:lpstr>
      <vt:lpstr>Git is not GitHub</vt:lpstr>
      <vt:lpstr>Five things to remember</vt:lpstr>
      <vt:lpstr>Other 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Amanpreet Kapoor Amanpreet Kapoor</dc:title>
  <dc:creator>amanpreet kapoor</dc:creator>
  <cp:lastModifiedBy>Kapoor,Amanpreet</cp:lastModifiedBy>
  <cp:revision>392</cp:revision>
  <dcterms:created xsi:type="dcterms:W3CDTF">2020-04-14T17:15:24Z</dcterms:created>
  <dcterms:modified xsi:type="dcterms:W3CDTF">2026-05-24T17:19:36Z</dcterms:modified>
</cp:coreProperties>
</file>