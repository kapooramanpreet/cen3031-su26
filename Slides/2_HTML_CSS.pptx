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1" r:id="rId20"/>
    <p:sldId id="282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56" autoAdjust="0"/>
    <p:restoredTop sz="86432" autoAdjust="0"/>
  </p:normalViewPr>
  <p:slideViewPr>
    <p:cSldViewPr snapToGrid="0" snapToObjects="1">
      <p:cViewPr>
        <p:scale>
          <a:sx n="66" d="100"/>
          <a:sy n="66" d="100"/>
        </p:scale>
        <p:origin x="1032" y="9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9086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3A43F-2F98-BB1D-D7C8-830F231B2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9E8307-06CD-9BB8-D899-4DF4859DD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85CCE5-79E8-2730-7107-C05F5732D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EAEFE-CE0E-E144-993A-E7EB3683D2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5211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F9460-401E-D886-624C-AB4ADF71F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F516A-4B70-31E7-4937-59B0EA056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5D8A6B-E569-6FA2-2344-6E41B4793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F2FB6-8D44-2806-7FAC-473842634D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07683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4294967295"/>
          </p:nvPr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CSS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(CEN 3031)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documents that the browser draws.</a:t>
            </a:r>
            <a:endParaRPr lang="en-US" sz="1300" dirty="0"/>
          </a:p>
        </p:txBody>
      </p:sp>
      <p:pic>
        <p:nvPicPr>
          <p:cNvPr id="7" name="Picture 6" descr="logo CEN3031">
            <a:extLst>
              <a:ext uri="{FF2B5EF4-FFF2-40B4-BE49-F238E27FC236}">
                <a16:creationId xmlns:a16="http://schemas.microsoft.com/office/drawing/2014/main" id="{4EAEDB37-76BE-F941-56AE-6C96DCB991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3850" y="3943350"/>
            <a:ext cx="1200150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457200" y="292608"/>
            <a:ext cx="2743200" cy="228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400" normalizeH="0" baseline="0" noProof="0" dirty="0">
                <a:ln>
                  <a:noFill/>
                </a:ln>
                <a:solidFill>
                  <a:srgbClr val="F050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CSS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777240"/>
            <a:ext cx="54864" cy="82296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800" y="777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page is a </a:t>
            </a:r>
            <a:r>
              <a:rPr lang="en-US" sz="14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a browser renders. </a:t>
            </a:r>
            <a:r>
              <a:rPr lang="en-US" sz="14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describes what the document </a:t>
            </a:r>
            <a:r>
              <a:rPr lang="en-US" sz="14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4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describes how it </a:t>
            </a:r>
            <a:r>
              <a:rPr lang="en-US" sz="14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4340" y="2103120"/>
            <a:ext cx="2606040" cy="36576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34340" y="2240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3434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34340" y="31089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defines the elements of a page — headings, paragraphs, links, images, forms — and how they nest.</a:t>
            </a:r>
            <a:endParaRPr lang="en-US" sz="1200" dirty="0"/>
          </a:p>
        </p:txBody>
      </p:sp>
      <p:sp>
        <p:nvSpPr>
          <p:cNvPr id="11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68980" y="2103120"/>
            <a:ext cx="2606040" cy="3657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268980" y="2240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326898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68980" y="31089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targets those elements with selectors and applies properties: color, size, spacing, layout, motion.</a:t>
            </a:r>
            <a:endParaRPr lang="en-US" sz="1200" dirty="0"/>
          </a:p>
        </p:txBody>
      </p:sp>
      <p:sp>
        <p:nvSpPr>
          <p:cNvPr id="15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03620" y="2103120"/>
            <a:ext cx="260604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103620" y="2240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10362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RESPONSIVENESS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103620" y="31089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adapt to any screen — phone, tablet, desktop — through fluid units and media queries.</a:t>
            </a:r>
            <a:endParaRPr lang="en-US" sz="1200" dirty="0"/>
          </a:p>
        </p:txBody>
      </p:sp>
      <p:pic>
        <p:nvPicPr>
          <p:cNvPr id="19" name="Picture 18" descr="Creative commons licence">
            <a:extLst>
              <a:ext uri="{FF2B5EF4-FFF2-40B4-BE49-F238E27FC236}">
                <a16:creationId xmlns:a16="http://schemas.microsoft.com/office/drawing/2014/main" id="{D8EFF3EB-60B9-0CFD-1356-2E0D948B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logo CEN3031">
            <a:extLst>
              <a:ext uri="{FF2B5EF4-FFF2-40B4-BE49-F238E27FC236}">
                <a16:creationId xmlns:a16="http://schemas.microsoft.com/office/drawing/2014/main" id="{2CAEA5AA-DD8A-B4D5-2A7D-46DA1D55BA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Questions HTML &amp; CSS let you answer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8872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content of this page, and how is it organized?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88720" y="16642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Headings, sections, paragraphs, lists, links — answered by the HTML alone.</a:t>
            </a:r>
            <a:endParaRPr lang="en-US" sz="1200" dirty="0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377440"/>
            <a:ext cx="502920" cy="50292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8872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each piece look on the screen?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88720" y="27157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Typography, color, spacing, borders, shadows — answered by CSS rules.</a:t>
            </a:r>
            <a:endParaRPr lang="en-US" sz="1200" dirty="0"/>
          </a:p>
        </p:txBody>
      </p:sp>
      <p:sp>
        <p:nvSpPr>
          <p:cNvPr id="13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8872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layout adapt when the window shrinks?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88720" y="3767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boxes, grids, and media queries answer at every viewport size.</a:t>
            </a:r>
            <a:endParaRPr lang="en-US" sz="1200" dirty="0"/>
          </a:p>
        </p:txBody>
      </p:sp>
      <p:pic>
        <p:nvPicPr>
          <p:cNvPr id="17" name="Picture 16" descr="Creative commons licence">
            <a:extLst>
              <a:ext uri="{FF2B5EF4-FFF2-40B4-BE49-F238E27FC236}">
                <a16:creationId xmlns:a16="http://schemas.microsoft.com/office/drawing/2014/main" id="{493BBB55-DB36-664B-595A-219557B30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logo CEN3031">
            <a:extLst>
              <a:ext uri="{FF2B5EF4-FFF2-40B4-BE49-F238E27FC236}">
                <a16:creationId xmlns:a16="http://schemas.microsoft.com/office/drawing/2014/main" id="{563092D4-ED8A-F856-6960-9E438B16E3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CSS are the de facto standard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UI stacks exist — Flutter, Qt, SwiftUI, native Android, terminal UIs.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</a:t>
            </a:r>
            <a:r>
              <a:rPr lang="en-US" sz="36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won.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2743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desktop and phone ships a browser. </a:t>
            </a:r>
            <a:r>
              <a:rPr lang="en-US" sz="1200" b="1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</a:t>
            </a:r>
            <a:r>
              <a:rPr lang="en-US" sz="12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universal canvas.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4747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apps must be ported. Web pages just open.</a:t>
            </a:r>
            <a:endParaRPr lang="en-US" sz="1100" dirty="0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37760" y="1188720"/>
            <a:ext cx="3749040" cy="301752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74920" y="1188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5212080" y="178308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is the only platform where you publish once and reach every device — without asking anyone's permission.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21208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working principle of the open web</a:t>
            </a:r>
            <a:endParaRPr lang="en-US" sz="1000" dirty="0"/>
          </a:p>
        </p:txBody>
      </p:sp>
      <p:pic>
        <p:nvPicPr>
          <p:cNvPr id="13" name="Picture 12" descr="Creative commons licence">
            <a:extLst>
              <a:ext uri="{FF2B5EF4-FFF2-40B4-BE49-F238E27FC236}">
                <a16:creationId xmlns:a16="http://schemas.microsoft.com/office/drawing/2014/main" id="{2815CF45-0F12-F064-65F6-8D9D4B908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logo CEN3031">
            <a:extLst>
              <a:ext uri="{FF2B5EF4-FFF2-40B4-BE49-F238E27FC236}">
                <a16:creationId xmlns:a16="http://schemas.microsoft.com/office/drawing/2014/main" id="{E8F6E7F6-1B6C-F491-49C7-2B5E00663F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457200" y="548640"/>
            <a:ext cx="3657600" cy="2743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F050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document first.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2057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later.</a:t>
            </a:r>
            <a:endParaRPr lang="en-US" sz="4000" dirty="0"/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971800"/>
            <a:ext cx="914400" cy="36576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see HTML as a tree of elements, every CSS rule stops being magic and starts being a query against that tree.</a:t>
            </a:r>
            <a:endParaRPr lang="en-US" sz="1300" dirty="0"/>
          </a:p>
        </p:txBody>
      </p:sp>
      <p:pic>
        <p:nvPicPr>
          <p:cNvPr id="9" name="Picture 8" descr="Creative commons licence">
            <a:extLst>
              <a:ext uri="{FF2B5EF4-FFF2-40B4-BE49-F238E27FC236}">
                <a16:creationId xmlns:a16="http://schemas.microsoft.com/office/drawing/2014/main" id="{7D079BFC-0EB1-304D-F3AC-095E6990B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130" y="4898968"/>
            <a:ext cx="493290" cy="1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logo CEN3031">
            <a:extLst>
              <a:ext uri="{FF2B5EF4-FFF2-40B4-BE49-F238E27FC236}">
                <a16:creationId xmlns:a16="http://schemas.microsoft.com/office/drawing/2014/main" id="{0774CCA1-D327-3FC3-8703-37E50078CC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130" y="4373188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57200" y="12801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0" dirty="0"/>
          </a:p>
        </p:txBody>
      </p:sp>
      <p:sp>
        <p:nvSpPr>
          <p:cNvPr id="5" name="Text 2"/>
          <p:cNvSpPr/>
          <p:nvPr/>
        </p:nvSpPr>
        <p:spPr>
          <a:xfrm>
            <a:off x="384048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200" dirty="0"/>
          </a:p>
        </p:txBody>
      </p:sp>
      <p:sp>
        <p:nvSpPr>
          <p:cNvPr id="6" name="Text 3"/>
          <p:cNvSpPr>
            <a:spLocks noGrp="1"/>
          </p:cNvSpPr>
          <p:nvPr>
            <p:ph type="title" idx="4294967295"/>
          </p:nvPr>
        </p:nvSpPr>
        <p:spPr>
          <a:xfrm>
            <a:off x="3840480" y="2103120"/>
            <a:ext cx="4846320" cy="64008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3840480" y="2834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Elements, attributes, the tree.  Three ideas — that's the whole structure.</a:t>
            </a:r>
            <a:endParaRPr lang="en-US" sz="1300" dirty="0"/>
          </a:p>
        </p:txBody>
      </p:sp>
      <p:grpSp>
        <p:nvGrpSpPr>
          <p:cNvPr id="10" name="Group 9" descr="Creative commons licence">
            <a:extLst>
              <a:ext uri="{FF2B5EF4-FFF2-40B4-BE49-F238E27FC236}">
                <a16:creationId xmlns:a16="http://schemas.microsoft.com/office/drawing/2014/main" id="{0BCE4948-C677-BBD8-E9AD-7CA39130CA7A}"/>
              </a:ext>
            </a:extLst>
          </p:cNvPr>
          <p:cNvGrpSpPr/>
          <p:nvPr/>
        </p:nvGrpSpPr>
        <p:grpSpPr>
          <a:xfrm>
            <a:off x="8582130" y="4373188"/>
            <a:ext cx="525780" cy="699552"/>
            <a:chOff x="8582130" y="4373188"/>
            <a:chExt cx="525780" cy="69955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09C7B0C-202E-0A8B-898B-14E7BDB74A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82130" y="4898968"/>
              <a:ext cx="493290" cy="173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logo CEN3031">
              <a:extLst>
                <a:ext uri="{FF2B5EF4-FFF2-40B4-BE49-F238E27FC236}">
                  <a16:creationId xmlns:a16="http://schemas.microsoft.com/office/drawing/2014/main" id="{CB09B6A4-CE52-B981-F44A-F89A5EB76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2130" y="4373188"/>
              <a:ext cx="525780" cy="5257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is HTML, really?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828800"/>
            <a:ext cx="2926080" cy="1463040"/>
          </a:xfrm>
          <a:prstGeom prst="rect">
            <a:avLst/>
          </a:prstGeom>
          <a:solidFill>
            <a:srgbClr val="000000"/>
          </a:solidFill>
          <a:ln w="1905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· p · a · img · div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tagged building blocks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520440" y="21945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600" dirty="0"/>
          </a:p>
        </p:txBody>
      </p:sp>
      <p:sp>
        <p:nvSpPr>
          <p:cNvPr id="10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23360" y="1828800"/>
            <a:ext cx="2926080" cy="1463040"/>
          </a:xfrm>
          <a:prstGeom prst="rect">
            <a:avLst/>
          </a:prstGeom>
          <a:solidFill>
            <a:srgbClr val="000000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023360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23360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class · href · src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02336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attached to elements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995160" y="21945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740664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HTML document is a nested tree of tagged elements, each carrying optional attributes.</a:t>
            </a:r>
            <a:endParaRPr lang="en-US" sz="1200" dirty="0"/>
          </a:p>
        </p:txBody>
      </p:sp>
      <p:grpSp>
        <p:nvGrpSpPr>
          <p:cNvPr id="17" name="Group 16" descr="Creative commons licence">
            <a:extLst>
              <a:ext uri="{FF2B5EF4-FFF2-40B4-BE49-F238E27FC236}">
                <a16:creationId xmlns:a16="http://schemas.microsoft.com/office/drawing/2014/main" id="{F1704AE4-02EF-6EA5-DE96-3DF41F8B8855}"/>
              </a:ext>
            </a:extLst>
          </p:cNvPr>
          <p:cNvGrpSpPr/>
          <p:nvPr/>
        </p:nvGrpSpPr>
        <p:grpSpPr>
          <a:xfrm>
            <a:off x="8582130" y="4373188"/>
            <a:ext cx="525780" cy="699552"/>
            <a:chOff x="8582130" y="4373188"/>
            <a:chExt cx="525780" cy="699552"/>
          </a:xfrm>
        </p:grpSpPr>
        <p:pic>
          <p:nvPicPr>
            <p:cNvPr id="18" name="Picture 17" descr="Creative commons licence">
              <a:extLst>
                <a:ext uri="{FF2B5EF4-FFF2-40B4-BE49-F238E27FC236}">
                  <a16:creationId xmlns:a16="http://schemas.microsoft.com/office/drawing/2014/main" id="{BFDB5810-D979-E736-B331-FEF7603048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82130" y="4898968"/>
              <a:ext cx="493290" cy="173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 descr="logo CEN3031">
              <a:extLst>
                <a:ext uri="{FF2B5EF4-FFF2-40B4-BE49-F238E27FC236}">
                  <a16:creationId xmlns:a16="http://schemas.microsoft.com/office/drawing/2014/main" id="{C73209A1-F77B-7E18-CC62-4E91116371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2130" y="4373188"/>
              <a:ext cx="525780" cy="5257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element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22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2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r>
              <a:rPr lang="en-US" sz="2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2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"/docs"</a:t>
            </a:r>
            <a:r>
              <a:rPr lang="en-US" sz="2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me</a:t>
            </a:r>
            <a:r>
              <a:rPr lang="en-US" sz="2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22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2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2200" dirty="0"/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" y="3017520"/>
            <a:ext cx="1965960" cy="36576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61772" y="31272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61772" y="34747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element. Browsers know how to render each kind.</a:t>
            </a:r>
            <a:endParaRPr lang="en-US" sz="1000" dirty="0"/>
          </a:p>
        </p:txBody>
      </p:sp>
      <p:sp>
        <p:nvSpPr>
          <p:cNvPr id="10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6604" y="3017520"/>
            <a:ext cx="196596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546604" y="31272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546604" y="34747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name="value" pair that configures or labels the element.</a:t>
            </a:r>
            <a:endParaRPr lang="en-US" sz="1000" dirty="0"/>
          </a:p>
        </p:txBody>
      </p:sp>
      <p:sp>
        <p:nvSpPr>
          <p:cNvPr id="13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31436" y="3017520"/>
            <a:ext cx="1965960" cy="3657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31436" y="31272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31436" y="34747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assigned to an attribute, always quoted.</a:t>
            </a:r>
            <a:endParaRPr lang="en-US" sz="1000" dirty="0"/>
          </a:p>
        </p:txBody>
      </p:sp>
      <p:sp>
        <p:nvSpPr>
          <p:cNvPr id="16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16268" y="3017520"/>
            <a:ext cx="1965960" cy="36576"/>
          </a:xfrm>
          <a:prstGeom prst="rect">
            <a:avLst/>
          </a:prstGeom>
          <a:solidFill>
            <a:srgbClr val="E6EDF3"/>
          </a:solidFill>
          <a:ln w="12700">
            <a:solidFill>
              <a:srgbClr val="E6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716268" y="31272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16268" y="34747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or nested elements between the opening and closing tags.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visible thing on a web page is one of these — or a tree of them.</a:t>
            </a:r>
            <a:endParaRPr lang="en-US" sz="11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BBB84F3-6BC5-C8CB-BE2D-428228CBE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582130" y="4373188"/>
            <a:ext cx="525780" cy="699552"/>
            <a:chOff x="8582130" y="4373188"/>
            <a:chExt cx="525780" cy="699552"/>
          </a:xfrm>
        </p:grpSpPr>
        <p:pic>
          <p:nvPicPr>
            <p:cNvPr id="21" name="Picture 20" descr="Creative commons licence">
              <a:extLst>
                <a:ext uri="{FF2B5EF4-FFF2-40B4-BE49-F238E27FC236}">
                  <a16:creationId xmlns:a16="http://schemas.microsoft.com/office/drawing/2014/main" id="{AA804754-EE38-E13B-6A9A-7B43449101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82130" y="4898968"/>
              <a:ext cx="493290" cy="173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logo CEN3031">
              <a:extLst>
                <a:ext uri="{FF2B5EF4-FFF2-40B4-BE49-F238E27FC236}">
                  <a16:creationId xmlns:a16="http://schemas.microsoft.com/office/drawing/2014/main" id="{9076BA4C-E385-E69C-9FCA-BD5CD0B27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2130" y="4373188"/>
              <a:ext cx="525780" cy="5257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HTML document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097280"/>
            <a:ext cx="5212080" cy="338328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</a:t>
            </a: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"en"</a:t>
            </a:r>
            <a:r>
              <a:rPr lang="en-US" sz="11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</a:t>
            </a: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charset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r>
              <a:rPr lang="en-US" sz="11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world</a:t>
            </a:r>
            <a:r>
              <a:rPr lang="en-US" sz="11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&lt;/title&gt;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&lt;link </a:t>
            </a: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"stylesheet" </a:t>
            </a: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"style.css"</a:t>
            </a:r>
            <a:r>
              <a:rPr lang="en-US" sz="11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&lt;/head&gt;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&lt;body&gt;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Hi, web.</a:t>
            </a:r>
            <a:r>
              <a:rPr lang="en-US" sz="11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&lt;/h1&gt;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 to my page.</a:t>
            </a:r>
            <a:r>
              <a:rPr lang="en-US" sz="11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&lt;/body&gt;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4360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DOCTYPE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browser: render this as modern HTML.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for the browser — title, encoding, stylesheets. Nothing visible.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0" y="2971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user sees lives inside here.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Indentation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0" y="3749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but mirrors the tree. The tree is what really matters.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HTML file is this skeleton plus content.</a:t>
            </a:r>
            <a:endParaRPr lang="en-US" sz="1100" dirty="0"/>
          </a:p>
        </p:txBody>
      </p:sp>
      <p:grpSp>
        <p:nvGrpSpPr>
          <p:cNvPr id="16" name="Group 15" descr="Creative commons licence">
            <a:extLst>
              <a:ext uri="{FF2B5EF4-FFF2-40B4-BE49-F238E27FC236}">
                <a16:creationId xmlns:a16="http://schemas.microsoft.com/office/drawing/2014/main" id="{5A97CBF6-BADB-684B-A748-D8415453AB09}"/>
              </a:ext>
            </a:extLst>
          </p:cNvPr>
          <p:cNvGrpSpPr/>
          <p:nvPr/>
        </p:nvGrpSpPr>
        <p:grpSpPr>
          <a:xfrm>
            <a:off x="8582130" y="4373188"/>
            <a:ext cx="525780" cy="699552"/>
            <a:chOff x="8582130" y="4373188"/>
            <a:chExt cx="525780" cy="699552"/>
          </a:xfrm>
        </p:grpSpPr>
        <p:pic>
          <p:nvPicPr>
            <p:cNvPr id="17" name="Picture 16" descr="Creative commons licence">
              <a:extLst>
                <a:ext uri="{FF2B5EF4-FFF2-40B4-BE49-F238E27FC236}">
                  <a16:creationId xmlns:a16="http://schemas.microsoft.com/office/drawing/2014/main" id="{ED3EF1A4-1B6E-D9B9-35C8-ED59F15ACD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82130" y="4898968"/>
              <a:ext cx="493290" cy="173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logo CEN3031">
              <a:extLst>
                <a:ext uri="{FF2B5EF4-FFF2-40B4-BE49-F238E27FC236}">
                  <a16:creationId xmlns:a16="http://schemas.microsoft.com/office/drawing/2014/main" id="{73EF181A-F172-D77D-405A-6D16ADE3F3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2130" y="4373188"/>
              <a:ext cx="525780" cy="5257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DOM tree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parsed, your HTML becomes a </a:t>
            </a:r>
            <a:r>
              <a:rPr lang="en-US" sz="13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of nodes</a:t>
            </a: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Document Object Model. CSS selectors and JS APIs both walk this tree.</a:t>
            </a:r>
            <a:endParaRPr lang="en-US" sz="1300" dirty="0"/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5737860" y="2148840"/>
            <a:ext cx="1005840" cy="50292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43700" y="2148840"/>
            <a:ext cx="1005840" cy="50292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37860" y="2971800"/>
            <a:ext cx="0" cy="50292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7086600" y="2971800"/>
            <a:ext cx="662940" cy="50292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49540" y="2971800"/>
            <a:ext cx="365760" cy="50292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1828800"/>
            <a:ext cx="685800" cy="320040"/>
          </a:xfrm>
          <a:prstGeom prst="rect">
            <a:avLst/>
          </a:prstGeom>
          <a:solidFill>
            <a:srgbClr val="000000"/>
          </a:solidFill>
          <a:ln w="1905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182880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1100" dirty="0"/>
          </a:p>
        </p:txBody>
      </p:sp>
      <p:sp>
        <p:nvSpPr>
          <p:cNvPr id="13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94960" y="2651760"/>
            <a:ext cx="685800" cy="320040"/>
          </a:xfrm>
          <a:prstGeom prst="rect">
            <a:avLst/>
          </a:prstGeom>
          <a:solidFill>
            <a:srgbClr val="000000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394960" y="265176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endParaRPr lang="en-US" sz="1100" dirty="0"/>
          </a:p>
        </p:txBody>
      </p:sp>
      <p:sp>
        <p:nvSpPr>
          <p:cNvPr id="15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06640" y="2651760"/>
            <a:ext cx="685800" cy="320040"/>
          </a:xfrm>
          <a:prstGeom prst="rect">
            <a:avLst/>
          </a:prstGeom>
          <a:solidFill>
            <a:srgbClr val="000000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406640" y="265176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endParaRPr lang="en-US" sz="1100" dirty="0"/>
          </a:p>
        </p:txBody>
      </p:sp>
      <p:sp>
        <p:nvSpPr>
          <p:cNvPr id="17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94960" y="3474720"/>
            <a:ext cx="685800" cy="320040"/>
          </a:xfrm>
          <a:prstGeom prst="rect">
            <a:avLst/>
          </a:prstGeom>
          <a:solidFill>
            <a:srgbClr val="000000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394960" y="34747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100" dirty="0"/>
          </a:p>
        </p:txBody>
      </p:sp>
      <p:sp>
        <p:nvSpPr>
          <p:cNvPr id="19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75120" y="3474720"/>
            <a:ext cx="685800" cy="320040"/>
          </a:xfrm>
          <a:prstGeom prst="rect">
            <a:avLst/>
          </a:prstGeom>
          <a:solidFill>
            <a:srgbClr val="000000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675120" y="34747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endParaRPr lang="en-US" sz="1100" dirty="0"/>
          </a:p>
        </p:txBody>
      </p:sp>
      <p:sp>
        <p:nvSpPr>
          <p:cNvPr id="21" name="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3474720"/>
            <a:ext cx="685800" cy="320040"/>
          </a:xfrm>
          <a:prstGeom prst="rect">
            <a:avLst/>
          </a:prstGeom>
          <a:solidFill>
            <a:srgbClr val="000000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772400" y="34747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/ child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21031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has exactly one parent (except &lt;html&gt;). Nesting in source = nesting in the tree.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2697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29718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at the same depth under one parent. CSS can target adjacent siblings explicitly.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3566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Walkable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" y="38404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can read, modify, add, or remove any node. CSS can match any path through the tree.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029200" y="1463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TREE</a:t>
            </a:r>
            <a:endParaRPr lang="en-US" sz="900" dirty="0"/>
          </a:p>
        </p:txBody>
      </p:sp>
      <p:grpSp>
        <p:nvGrpSpPr>
          <p:cNvPr id="30" name="Group 29" descr="Creative commons licence">
            <a:extLst>
              <a:ext uri="{FF2B5EF4-FFF2-40B4-BE49-F238E27FC236}">
                <a16:creationId xmlns:a16="http://schemas.microsoft.com/office/drawing/2014/main" id="{EB52C0E1-0C91-96EE-D0E0-698986DE67F5}"/>
              </a:ext>
            </a:extLst>
          </p:cNvPr>
          <p:cNvGrpSpPr/>
          <p:nvPr/>
        </p:nvGrpSpPr>
        <p:grpSpPr>
          <a:xfrm>
            <a:off x="8582130" y="4373188"/>
            <a:ext cx="525780" cy="699552"/>
            <a:chOff x="8582130" y="4373188"/>
            <a:chExt cx="525780" cy="699552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80AB5204-6B70-BF9A-E45F-80777A2C95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82130" y="4898968"/>
              <a:ext cx="493290" cy="173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31" descr="logo CEN3031">
              <a:extLst>
                <a:ext uri="{FF2B5EF4-FFF2-40B4-BE49-F238E27FC236}">
                  <a16:creationId xmlns:a16="http://schemas.microsoft.com/office/drawing/2014/main" id="{F1FBBDF1-198A-0C4C-113E-6EF080EB2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2130" y="4373188"/>
              <a:ext cx="525780" cy="5257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of HTML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07008"/>
            <a:ext cx="182880" cy="18288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14264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/ nav / footer / main / section / article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642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Layout-level landmarks. Tell screen readers and search engines what each region of the page is for.</a:t>
            </a:r>
            <a:endParaRPr lang="en-US" sz="1000" dirty="0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075688"/>
            <a:ext cx="182880" cy="18288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6868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content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22951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– h6 · p · ul / ol / li · blockquote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25328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prose. Use heading levels to communicate hierarchy, not just to make things big.</a:t>
            </a:r>
            <a:endParaRPr lang="en-US" sz="1000" dirty="0"/>
          </a:p>
        </p:txBody>
      </p:sp>
      <p:sp>
        <p:nvSpPr>
          <p:cNvPr id="13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44368"/>
            <a:ext cx="182880" cy="18288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6868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media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31638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· img · video · audio · picture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4015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connect documents. Media elements embed images, video, and audio with accessibility hooks.</a:t>
            </a:r>
            <a:endParaRPr lang="en-US" sz="1000" dirty="0"/>
          </a:p>
        </p:txBody>
      </p:sp>
      <p:sp>
        <p:nvSpPr>
          <p:cNvPr id="17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13048"/>
            <a:ext cx="182880" cy="182880"/>
          </a:xfrm>
          <a:prstGeom prst="ellipse">
            <a:avLst/>
          </a:prstGeom>
          <a:solidFill>
            <a:srgbClr val="F1C940"/>
          </a:solidFill>
          <a:ln w="12700">
            <a:solidFill>
              <a:srgbClr val="F1C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868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C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controls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68680" y="40325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 · input · select · textarea · button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68680" y="42702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the user types, picks, or clicks. The browser provides validation and keyboard behavior for free.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tag that describes meaning, not the tag that looks right. Style comes later.</a:t>
            </a:r>
            <a:endParaRPr lang="en-US" sz="11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71F7056-9B63-C36A-E953-3EC672318F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582130" y="4373188"/>
            <a:ext cx="525780" cy="699552"/>
            <a:chOff x="8582130" y="4373188"/>
            <a:chExt cx="525780" cy="699552"/>
          </a:xfrm>
        </p:grpSpPr>
        <p:pic>
          <p:nvPicPr>
            <p:cNvPr id="23" name="Picture 22" descr="Creative commons licence">
              <a:extLst>
                <a:ext uri="{FF2B5EF4-FFF2-40B4-BE49-F238E27FC236}">
                  <a16:creationId xmlns:a16="http://schemas.microsoft.com/office/drawing/2014/main" id="{EE1413FF-276D-0C10-00B8-BDE5BF9289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82130" y="4898968"/>
              <a:ext cx="493290" cy="173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23" descr="logo CEN3031">
              <a:extLst>
                <a:ext uri="{FF2B5EF4-FFF2-40B4-BE49-F238E27FC236}">
                  <a16:creationId xmlns:a16="http://schemas.microsoft.com/office/drawing/2014/main" id="{51BD74E7-C0B0-E248-98F0-96C0F3C60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2130" y="4373188"/>
              <a:ext cx="525780" cy="5257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Forms: the only way to ask the user something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types you'll actually use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type="text"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331720" y="1463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single-line text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8470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type="email"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331720" y="18470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format, mobile shows @ keyboard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22311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type="number"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331720" y="22311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spinner, min/max/step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2615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type="checkbox"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331720" y="26151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toggle (or grouped multi-select)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29992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type="radio"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331720" y="29992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from a group (share name)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3383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type="file"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331720" y="3383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picker; accept= filters types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37673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type="date"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331720" y="3767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date picker per platform</a:t>
            </a:r>
            <a:endParaRPr lang="en-US" sz="1000" dirty="0"/>
          </a:p>
        </p:txBody>
      </p:sp>
      <p:sp>
        <p:nvSpPr>
          <p:cNvPr id="20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37760" y="1097280"/>
            <a:ext cx="3840480" cy="292608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7492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FORM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074920" y="15087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</a:t>
            </a: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"/signup"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"post"</a:t>
            </a:r>
            <a:r>
              <a:rPr lang="en-US" sz="12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</a:t>
            </a: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r>
              <a:rPr lang="en-US" sz="12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&lt;/label&gt;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</a:t>
            </a: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"submit"</a:t>
            </a:r>
            <a:r>
              <a:rPr lang="en-US" sz="12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 up</a:t>
            </a:r>
            <a:r>
              <a:rPr lang="en-US" sz="12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gives you focus management, keyboard nav, and validation for free.</a:t>
            </a:r>
            <a:endParaRPr lang="en-US" sz="11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3C07523-6630-0806-A342-301089AC8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582130" y="4373188"/>
            <a:ext cx="525780" cy="699552"/>
            <a:chOff x="8582130" y="4373188"/>
            <a:chExt cx="525780" cy="699552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60DE0E1-FF69-062A-585F-C0BF33335D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82130" y="4898968"/>
              <a:ext cx="493290" cy="173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logo CEN3031">
              <a:extLst>
                <a:ext uri="{FF2B5EF4-FFF2-40B4-BE49-F238E27FC236}">
                  <a16:creationId xmlns:a16="http://schemas.microsoft.com/office/drawing/2014/main" id="{25718BD5-BA46-FD0F-9885-8EBC14285F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2130" y="4373188"/>
              <a:ext cx="525780" cy="5257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57200" y="12801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0" dirty="0"/>
          </a:p>
        </p:txBody>
      </p:sp>
      <p:sp>
        <p:nvSpPr>
          <p:cNvPr id="5" name="Text 2"/>
          <p:cNvSpPr/>
          <p:nvPr/>
        </p:nvSpPr>
        <p:spPr>
          <a:xfrm>
            <a:off x="384048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200" dirty="0"/>
          </a:p>
        </p:txBody>
      </p:sp>
      <p:sp>
        <p:nvSpPr>
          <p:cNvPr id="6" name="Text 3"/>
          <p:cNvSpPr>
            <a:spLocks noGrp="1"/>
          </p:cNvSpPr>
          <p:nvPr>
            <p:ph type="title" idx="4294967295"/>
          </p:nvPr>
        </p:nvSpPr>
        <p:spPr>
          <a:xfrm>
            <a:off x="3840480" y="2103120"/>
            <a:ext cx="4846320" cy="64008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Presentation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3840480" y="2834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that you know the document, every CSS rule is a query: pick nodes, then style them.</a:t>
            </a:r>
            <a:endParaRPr lang="en-US" sz="13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1F5BF57-FDC2-4343-AC11-6C3DD5ABD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582130" y="4373188"/>
            <a:ext cx="525780" cy="699552"/>
            <a:chOff x="8582130" y="4373188"/>
            <a:chExt cx="525780" cy="69955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1F32F56-F063-46EE-B348-6710E9F552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82130" y="4898968"/>
              <a:ext cx="493290" cy="173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logo CEN3031">
              <a:extLst>
                <a:ext uri="{FF2B5EF4-FFF2-40B4-BE49-F238E27FC236}">
                  <a16:creationId xmlns:a16="http://schemas.microsoft.com/office/drawing/2014/main" id="{8363DF3A-3CAC-614D-E85A-F8138FBDA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2130" y="4373188"/>
              <a:ext cx="525780" cy="5257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CSS rule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h1.title</a:t>
            </a:r>
            <a:r>
              <a:rPr lang="en-US" sz="2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 </a:t>
            </a:r>
            <a:r>
              <a:rPr lang="en-US" sz="2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r>
              <a:rPr lang="en-US" sz="2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2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</a:t>
            </a:r>
            <a:r>
              <a:rPr lang="en-US" sz="2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r>
              <a:rPr lang="en-US" sz="2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font-size</a:t>
            </a:r>
            <a:r>
              <a:rPr lang="en-US" sz="2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2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32px</a:t>
            </a:r>
            <a:r>
              <a:rPr lang="en-US" sz="2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}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nodes does this rule apply to?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9184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9184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aspect of the node are you setting?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2648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2648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that property be?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you'll use every day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element  ·  </a:t>
            </a:r>
            <a:r>
              <a:rPr lang="en-US" sz="11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class  ·  </a:t>
            </a:r>
            <a:r>
              <a:rPr lang="en-US" sz="11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#main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  ·  </a:t>
            </a:r>
            <a:r>
              <a:rPr lang="en-US" sz="11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a:hover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pseudo  ·  </a:t>
            </a:r>
            <a:r>
              <a:rPr lang="en-US" sz="11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 &gt; a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direct child  ·  </a:t>
            </a:r>
            <a:r>
              <a:rPr lang="en-US" sz="11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[type="email"]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attribute</a:t>
            </a:r>
            <a:endParaRPr lang="en-US" sz="11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D43B519-9E3F-0DA5-2271-447DE08AE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582130" y="4373188"/>
            <a:ext cx="525780" cy="699552"/>
            <a:chOff x="8582130" y="4373188"/>
            <a:chExt cx="525780" cy="699552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E8B263C-0561-986C-C4F0-3E44F08BD0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82130" y="4898968"/>
              <a:ext cx="493290" cy="173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6" descr="logo CEN3031">
              <a:extLst>
                <a:ext uri="{FF2B5EF4-FFF2-40B4-BE49-F238E27FC236}">
                  <a16:creationId xmlns:a16="http://schemas.microsoft.com/office/drawing/2014/main" id="{E7225408-B2D8-9C62-09F8-31E3752EF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2130" y="4373188"/>
              <a:ext cx="525780" cy="5257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attach CSS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" y="1143000"/>
            <a:ext cx="2697480" cy="36576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42900" y="12527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</a:t>
            </a:r>
            <a:endParaRPr lang="en-US" sz="1200" dirty="0"/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" y="1600200"/>
            <a:ext cx="2697480" cy="128016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0060" y="16459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style="color:red"&gt;hi&lt;/p&gt;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42900" y="29718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42900" y="3200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demos only.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2900" y="35661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Mixes structure with style; nothing is reusable; impossible to override cleanly.</a:t>
            </a:r>
            <a:endParaRPr lang="en-US" sz="1000" dirty="0"/>
          </a:p>
        </p:txBody>
      </p:sp>
      <p:sp>
        <p:nvSpPr>
          <p:cNvPr id="12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23260" y="1143000"/>
            <a:ext cx="2697480" cy="36576"/>
          </a:xfrm>
          <a:prstGeom prst="rect">
            <a:avLst/>
          </a:prstGeom>
          <a:solidFill>
            <a:srgbClr val="F1C940"/>
          </a:solidFill>
          <a:ln w="12700">
            <a:solidFill>
              <a:srgbClr val="F1C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23260" y="12527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1C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200" dirty="0"/>
          </a:p>
        </p:txBody>
      </p:sp>
      <p:sp>
        <p:nvSpPr>
          <p:cNvPr id="14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23260" y="1600200"/>
            <a:ext cx="2697480" cy="128016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360420" y="16459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&lt;style&gt;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 { color: red;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&lt;/style&gt;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223260" y="29718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223260" y="3200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docs, emails.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23260" y="35661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trapped in one file. Can't share across pages.</a:t>
            </a:r>
            <a:endParaRPr lang="en-US" sz="1000" dirty="0"/>
          </a:p>
        </p:txBody>
      </p:sp>
      <p:sp>
        <p:nvSpPr>
          <p:cNvPr id="19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03620" y="1143000"/>
            <a:ext cx="2697480" cy="3657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103620" y="12527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200" dirty="0"/>
          </a:p>
        </p:txBody>
      </p:sp>
      <p:sp>
        <p:nvSpPr>
          <p:cNvPr id="21" name="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03620" y="1600200"/>
            <a:ext cx="2697480" cy="128016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240780" y="16459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rel="stylesheet"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href="style.css"&gt;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103620" y="29718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103620" y="3200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always this one.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103620" y="35661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caches it. One source of truth across the whole site.</a:t>
            </a:r>
            <a:endParaRPr lang="en-US" sz="10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1035AE4-E9E5-C4A8-C145-BF4FBF22E3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582130" y="4373188"/>
            <a:ext cx="525780" cy="699552"/>
            <a:chOff x="8582130" y="4373188"/>
            <a:chExt cx="525780" cy="699552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24CFDB0-800A-0DE8-3AA7-18F8DE3612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82130" y="4898968"/>
              <a:ext cx="493290" cy="173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7" descr="logo CEN3031">
              <a:extLst>
                <a:ext uri="{FF2B5EF4-FFF2-40B4-BE49-F238E27FC236}">
                  <a16:creationId xmlns:a16="http://schemas.microsoft.com/office/drawing/2014/main" id="{D2925470-1456-7BCB-24FF-B08787147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2130" y="4373188"/>
              <a:ext cx="525780" cy="5257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cascade: who wins when rules collide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51560" y="11155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&amp; importance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51560" y="13898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rules beat browser defaults. `!important` overrides both (but please don't).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6916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51560" y="17099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51560" y="19842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are scored: inline &gt; #id &gt; .class &gt; tag. The higher score wins.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51560" y="23042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order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51560" y="25786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specificity ties, the rule written later wins. Last one in the file.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LADDER</a:t>
            </a:r>
            <a:endParaRPr lang="en-US" sz="1000" dirty="0"/>
          </a:p>
        </p:txBody>
      </p:sp>
      <p:sp>
        <p:nvSpPr>
          <p:cNvPr id="15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383280"/>
            <a:ext cx="1965960" cy="960120"/>
          </a:xfrm>
          <a:prstGeom prst="rect">
            <a:avLst/>
          </a:prstGeom>
          <a:solidFill>
            <a:srgbClr val="000000"/>
          </a:solidFill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7200" y="34564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3840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0,0,0,1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069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19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06040" y="3383280"/>
            <a:ext cx="1965960" cy="960120"/>
          </a:xfrm>
          <a:prstGeom prst="rect">
            <a:avLst/>
          </a:prstGeom>
          <a:solidFill>
            <a:srgbClr val="000000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606040" y="34564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.note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606040" y="3840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0,0,1,0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606040" y="4069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3" name="Shap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4880" y="3383280"/>
            <a:ext cx="1965960" cy="960120"/>
          </a:xfrm>
          <a:prstGeom prst="rect">
            <a:avLst/>
          </a:prstGeom>
          <a:solidFill>
            <a:srgbClr val="000000"/>
          </a:solidFill>
          <a:ln w="1905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754880" y="34564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#main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754880" y="3840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0,1,0,0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754880" y="4069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7" name="Shap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03720" y="3383280"/>
            <a:ext cx="1965960" cy="960120"/>
          </a:xfrm>
          <a:prstGeom prst="rect">
            <a:avLst/>
          </a:prstGeom>
          <a:solidFill>
            <a:srgbClr val="000000"/>
          </a:solidFill>
          <a:ln w="19050">
            <a:solidFill>
              <a:srgbClr val="F1C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903720" y="34564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style="..."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903720" y="3840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1,0,0,0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903720" y="4069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style isn't applying, the cascade is almost always why. Open DevTools and check what won.</a:t>
            </a:r>
            <a:endParaRPr lang="en-US" sz="11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44D48F3-0D62-1BE4-7847-6E44CE447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582130" y="4373188"/>
            <a:ext cx="525780" cy="699552"/>
            <a:chOff x="8582130" y="4373188"/>
            <a:chExt cx="525780" cy="699552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45DE85F8-0065-ED64-5EA2-3D423428F6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82130" y="4898968"/>
              <a:ext cx="493290" cy="173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33" descr="logo CEN3031">
              <a:extLst>
                <a:ext uri="{FF2B5EF4-FFF2-40B4-BE49-F238E27FC236}">
                  <a16:creationId xmlns:a16="http://schemas.microsoft.com/office/drawing/2014/main" id="{66D4EB3A-036C-1C96-2593-468B64020A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2130" y="4373188"/>
              <a:ext cx="525780" cy="5257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is a box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 has four concentric regions. Setting any of them changes the box's size and the space around it.</a:t>
            </a:r>
            <a:endParaRPr lang="en-US" sz="1300" dirty="0"/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0" y="1457960"/>
            <a:ext cx="3657600" cy="2743200"/>
          </a:xfrm>
          <a:prstGeom prst="rect">
            <a:avLst/>
          </a:prstGeom>
          <a:solidFill>
            <a:srgbClr val="000000"/>
          </a:solidFill>
          <a:ln w="12700">
            <a:solidFill>
              <a:srgbClr val="F1C94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2120" y="1686560"/>
            <a:ext cx="3017520" cy="2286000"/>
          </a:xfrm>
          <a:prstGeom prst="rect">
            <a:avLst/>
          </a:prstGeom>
          <a:solidFill>
            <a:srgbClr val="000000"/>
          </a:solidFill>
          <a:ln w="1905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1869440"/>
            <a:ext cx="2651760" cy="1920240"/>
          </a:xfrm>
          <a:prstGeom prst="rect">
            <a:avLst/>
          </a:prstGeom>
          <a:solidFill>
            <a:srgbClr val="000000"/>
          </a:solidFill>
          <a:ln w="12700">
            <a:solidFill>
              <a:srgbClr val="58A6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2143760"/>
            <a:ext cx="2103120" cy="1371600"/>
          </a:xfrm>
          <a:prstGeom prst="rect">
            <a:avLst/>
          </a:prstGeom>
          <a:solidFill>
            <a:srgbClr val="0D1015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257800" y="14945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1C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577840" y="17139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760720" y="18968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89320" y="23266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300" dirty="0"/>
          </a:p>
        </p:txBody>
      </p:sp>
      <p:sp>
        <p:nvSpPr>
          <p:cNvPr id="14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892808"/>
            <a:ext cx="164592" cy="16459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724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7240" y="2103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text, image, or children — the box's actual stuff.</a:t>
            </a:r>
            <a:endParaRPr lang="en-US" sz="1000" dirty="0"/>
          </a:p>
        </p:txBody>
      </p:sp>
      <p:sp>
        <p:nvSpPr>
          <p:cNvPr id="17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78608"/>
            <a:ext cx="164592" cy="164592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77240" y="2514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7240" y="2788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space between content and border. Counts as part of the box.</a:t>
            </a:r>
            <a:endParaRPr lang="en-US" sz="1000" dirty="0"/>
          </a:p>
        </p:txBody>
      </p:sp>
      <p:sp>
        <p:nvSpPr>
          <p:cNvPr id="20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64408"/>
            <a:ext cx="164592" cy="164592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77240" y="3200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77240" y="3474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visible edge. Can have width, style, color.</a:t>
            </a:r>
            <a:endParaRPr lang="en-US" sz="1000" dirty="0"/>
          </a:p>
        </p:txBody>
      </p:sp>
      <p:sp>
        <p:nvSpPr>
          <p:cNvPr id="23" name="Shap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50208"/>
            <a:ext cx="164592" cy="164592"/>
          </a:xfrm>
          <a:prstGeom prst="ellipse">
            <a:avLst/>
          </a:prstGeom>
          <a:solidFill>
            <a:srgbClr val="F1C940"/>
          </a:solidFill>
          <a:ln w="12700">
            <a:solidFill>
              <a:srgbClr val="F1C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77240" y="3886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C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772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space pushing neighbors away. Adjacent margins collapse.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box-sizing: border-box; makes width include padding &amp; border. Set it everywhere and never look back.</a:t>
            </a:r>
            <a:endParaRPr lang="en-US" sz="10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660C7A0-44C3-BB62-78D4-8154791E4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582130" y="4373188"/>
            <a:ext cx="525780" cy="699552"/>
            <a:chOff x="8582130" y="4373188"/>
            <a:chExt cx="525780" cy="699552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A27EE5C-A3D8-9283-7551-C5484D68EE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82130" y="4898968"/>
              <a:ext cx="493290" cy="173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8" descr="logo CEN3031">
              <a:extLst>
                <a:ext uri="{FF2B5EF4-FFF2-40B4-BE49-F238E27FC236}">
                  <a16:creationId xmlns:a16="http://schemas.microsoft.com/office/drawing/2014/main" id="{E37B260F-07CF-296F-4489-C928B7AC7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2130" y="4373188"/>
              <a:ext cx="525780" cy="5257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boxes arrange themselves: display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188720"/>
            <a:ext cx="54864" cy="64008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800" y="11887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54480" y="1188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834640" y="12344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vertically. Takes the full width of its parent. Default for &lt;div&gt;, &lt;p&gt;, headings, sections.</a:t>
            </a:r>
            <a:endParaRPr lang="en-US" sz="1100" dirty="0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965960"/>
            <a:ext cx="54864" cy="6400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5800" y="1965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554480" y="19659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inline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834640" y="20116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in a line of text. Width follows content. Default for &lt;span&gt;, &lt;a&gt;, &lt;em&gt;, &lt;strong&gt;.</a:t>
            </a:r>
            <a:endParaRPr lang="en-US" sz="1100" dirty="0"/>
          </a:p>
        </p:txBody>
      </p:sp>
      <p:sp>
        <p:nvSpPr>
          <p:cNvPr id="13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743200"/>
            <a:ext cx="54864" cy="6400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85800" y="2743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554480" y="2743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834640" y="27889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One-dimensional layout — distribute children along a row (default) or column (</a:t>
            </a:r>
            <a:r>
              <a:rPr lang="en-US" sz="11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flex-direction : column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</a:t>
            </a:r>
            <a:endParaRPr lang="en-US" sz="1100" dirty="0"/>
          </a:p>
        </p:txBody>
      </p:sp>
      <p:sp>
        <p:nvSpPr>
          <p:cNvPr id="17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520440"/>
            <a:ext cx="54864" cy="640080"/>
          </a:xfrm>
          <a:prstGeom prst="rect">
            <a:avLst/>
          </a:prstGeom>
          <a:solidFill>
            <a:srgbClr val="F1C940"/>
          </a:solidFill>
          <a:ln w="12700">
            <a:solidFill>
              <a:srgbClr val="F1C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85800" y="3520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554480" y="3520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834640" y="35661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Two-dimensional layout — define rows (grid-template-rows) and columns (grid-template-columns) and place children into cells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and grid replaced almost every layout hack of the 2010s — floats, tables, absolute positioning.</a:t>
            </a:r>
            <a:endParaRPr lang="en-US" sz="11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44FD7AF-0668-79D7-DB0D-2BA9799634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582130" y="4373188"/>
            <a:ext cx="525780" cy="699552"/>
            <a:chOff x="8582130" y="4373188"/>
            <a:chExt cx="525780" cy="699552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04A4FD2-E764-D871-FD72-CCEA9AE12C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82130" y="4898968"/>
              <a:ext cx="493290" cy="173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23" descr="logo CEN3031">
              <a:extLst>
                <a:ext uri="{FF2B5EF4-FFF2-40B4-BE49-F238E27FC236}">
                  <a16:creationId xmlns:a16="http://schemas.microsoft.com/office/drawing/2014/main" id="{0253CA3D-7116-BE36-8C12-1601864A1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2130" y="4373188"/>
              <a:ext cx="525780" cy="5257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B27FB8-6EEB-2F74-CE2A-7B935C118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458D4C36-D310-7755-425A-210F82AF0F0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Generic containers — and how to name them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17950FE-0120-147A-18B5-8D5ED7147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554480"/>
            <a:ext cx="4069080" cy="36576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C44C379-7A56-8B73-66AA-81AAE571A6F4}"/>
              </a:ext>
            </a:extLst>
          </p:cNvPr>
          <p:cNvSpPr/>
          <p:nvPr/>
        </p:nvSpPr>
        <p:spPr>
          <a:xfrm>
            <a:off x="411480" y="166420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F050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HTML · BLOCK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5432457-E263-E2F9-D957-9F85FD9BFAF9}"/>
              </a:ext>
            </a:extLst>
          </p:cNvPr>
          <p:cNvSpPr/>
          <p:nvPr/>
        </p:nvSpPr>
        <p:spPr>
          <a:xfrm>
            <a:off x="411480" y="19202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9C9EA57-DA5F-466A-CD03-0828412A3E23}"/>
              </a:ext>
            </a:extLst>
          </p:cNvPr>
          <p:cNvSpPr/>
          <p:nvPr/>
        </p:nvSpPr>
        <p:spPr>
          <a:xfrm>
            <a:off x="411480" y="23317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9D1D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generic block-level container. Takes the full width of its parent and stacks vertically. Use it to group sections, cards, and layout regions.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625C4C5-E3B1-3DB8-B8C9-9A780667F902}"/>
              </a:ext>
            </a:extLst>
          </p:cNvPr>
          <p:cNvSpPr/>
          <p:nvPr/>
        </p:nvSpPr>
        <p:spPr>
          <a:xfrm>
            <a:off x="411480" y="269748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050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class="card"&gt;…&lt;/div&gt;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F0BA84F6-E557-AE54-3378-D9967D8C7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554480"/>
            <a:ext cx="406908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05C517D-E28E-C17D-ABEF-06E02530EF27}"/>
              </a:ext>
            </a:extLst>
          </p:cNvPr>
          <p:cNvSpPr/>
          <p:nvPr/>
        </p:nvSpPr>
        <p:spPr>
          <a:xfrm>
            <a:off x="4663440" y="166420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HTML · INLINE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54D5955-91A8-3903-76A2-D8EBA6C57803}"/>
              </a:ext>
            </a:extLst>
          </p:cNvPr>
          <p:cNvSpPr/>
          <p:nvPr/>
        </p:nvSpPr>
        <p:spPr>
          <a:xfrm>
            <a:off x="4663440" y="19202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&lt;span&gt;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9D26EE5-B510-7299-2E52-5799250BD8E2}"/>
              </a:ext>
            </a:extLst>
          </p:cNvPr>
          <p:cNvSpPr/>
          <p:nvPr/>
        </p:nvSpPr>
        <p:spPr>
          <a:xfrm>
            <a:off x="4663440" y="23317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9D1D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generic inline container. Sits in the flow of text; width follows its content. Use it to style a word or phrase inside a sentence.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DBACEAF-314F-9097-23E2-A3E7C5DB5D2D}"/>
              </a:ext>
            </a:extLst>
          </p:cNvPr>
          <p:cNvSpPr/>
          <p:nvPr/>
        </p:nvSpPr>
        <p:spPr>
          <a:xfrm>
            <a:off x="4663440" y="269748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Hello &lt;span class="name"&gt;Alice&lt;/span&gt;!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419CF18-36BB-A17A-1EE2-D0BF2243F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582130" y="4373188"/>
            <a:ext cx="525780" cy="699552"/>
            <a:chOff x="8582130" y="4373188"/>
            <a:chExt cx="525780" cy="69955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3FA7755-BAEE-CC63-A015-F82D54787F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82130" y="4898968"/>
              <a:ext cx="493290" cy="173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logo CEN3031">
              <a:extLst>
                <a:ext uri="{FF2B5EF4-FFF2-40B4-BE49-F238E27FC236}">
                  <a16:creationId xmlns:a16="http://schemas.microsoft.com/office/drawing/2014/main" id="{659B0582-583F-3BBA-8DAD-2BD3B95F7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2130" y="4373188"/>
              <a:ext cx="525780" cy="525780"/>
            </a:xfrm>
            <a:prstGeom prst="rect">
              <a:avLst/>
            </a:prstGeom>
          </p:spPr>
        </p:pic>
      </p:grpSp>
      <p:sp>
        <p:nvSpPr>
          <p:cNvPr id="27" name="Text 2">
            <a:extLst>
              <a:ext uri="{FF2B5EF4-FFF2-40B4-BE49-F238E27FC236}">
                <a16:creationId xmlns:a16="http://schemas.microsoft.com/office/drawing/2014/main" id="{B4EF8CB0-9D28-7247-EE08-E0DE284A50A2}"/>
              </a:ext>
            </a:extLst>
          </p:cNvPr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C9D1D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When no semantic tag fits, reach for &lt;div&gt; or &lt;span&gt;. Give it a class to make it findable from CSS — an id only if it's truly one of a kind.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1908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9968A1-F3FC-7EF5-A85C-7B048233B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15284FD1-D35D-8D3E-27B4-A3C267C9B5F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CSS classes and IDs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D21C605-AE81-4C61-7D8A-8262966A6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554480"/>
            <a:ext cx="4069080" cy="36576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9766449-D9B6-9654-AAF4-FF75E6C7A09A}"/>
              </a:ext>
            </a:extLst>
          </p:cNvPr>
          <p:cNvSpPr/>
          <p:nvPr/>
        </p:nvSpPr>
        <p:spPr>
          <a:xfrm>
            <a:off x="411480" y="166420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F050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HTML · BLOCK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BE3F524-260B-484C-64D5-5C53A8DF07FF}"/>
              </a:ext>
            </a:extLst>
          </p:cNvPr>
          <p:cNvSpPr/>
          <p:nvPr/>
        </p:nvSpPr>
        <p:spPr>
          <a:xfrm>
            <a:off x="411480" y="19202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34D0BD0-A18F-0B6F-E882-AB44ED536D7F}"/>
              </a:ext>
            </a:extLst>
          </p:cNvPr>
          <p:cNvSpPr/>
          <p:nvPr/>
        </p:nvSpPr>
        <p:spPr>
          <a:xfrm>
            <a:off x="411480" y="23317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9D1D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generic block-level container. Takes the full width of its parent and stacks vertically. Use it to group sections, cards, and layout regions.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662B61C-1A62-BBCB-4C89-7D563337B9BD}"/>
              </a:ext>
            </a:extLst>
          </p:cNvPr>
          <p:cNvSpPr/>
          <p:nvPr/>
        </p:nvSpPr>
        <p:spPr>
          <a:xfrm>
            <a:off x="411480" y="269748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050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class="card"&gt;…&lt;/div&gt;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C35A2750-05F9-2C3B-DFC9-5F988AEE3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554480"/>
            <a:ext cx="406908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12F61CC-002E-1894-4F7B-056FB06FE014}"/>
              </a:ext>
            </a:extLst>
          </p:cNvPr>
          <p:cNvSpPr/>
          <p:nvPr/>
        </p:nvSpPr>
        <p:spPr>
          <a:xfrm>
            <a:off x="4663440" y="166420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HTML · INLINE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0806B1E-B140-ED8F-69D0-FFF834C76C72}"/>
              </a:ext>
            </a:extLst>
          </p:cNvPr>
          <p:cNvSpPr/>
          <p:nvPr/>
        </p:nvSpPr>
        <p:spPr>
          <a:xfrm>
            <a:off x="4663440" y="19202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&lt;span&gt;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DC3753E-64E9-08D7-7587-E277E678D5F7}"/>
              </a:ext>
            </a:extLst>
          </p:cNvPr>
          <p:cNvSpPr/>
          <p:nvPr/>
        </p:nvSpPr>
        <p:spPr>
          <a:xfrm>
            <a:off x="4663440" y="23317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9D1D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generic inline container. Sits in the flow of text; width follows its content. Use it to style a word or phrase inside a sentence.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7195938-C569-5F0D-4C61-8067FA1219C0}"/>
              </a:ext>
            </a:extLst>
          </p:cNvPr>
          <p:cNvSpPr/>
          <p:nvPr/>
        </p:nvSpPr>
        <p:spPr>
          <a:xfrm>
            <a:off x="4663440" y="269748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Hello &lt;span class="name"&gt;Alice&lt;/span&gt;!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8DB82627-1252-8436-4806-F04BD12D2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3086100"/>
            <a:ext cx="4069080" cy="36576"/>
          </a:xfrm>
          <a:prstGeom prst="rect">
            <a:avLst/>
          </a:prstGeom>
          <a:solidFill>
            <a:srgbClr val="F1C940"/>
          </a:solidFill>
          <a:ln w="12700">
            <a:solidFill>
              <a:srgbClr val="F1C9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CD914A4-CF44-1381-CE05-A8829B5663DE}"/>
              </a:ext>
            </a:extLst>
          </p:cNvPr>
          <p:cNvSpPr/>
          <p:nvPr/>
        </p:nvSpPr>
        <p:spPr>
          <a:xfrm>
            <a:off x="411480" y="319582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F1C9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HTML ATTR · UNIQUE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BAA88DB-840A-CFEE-B919-C3221887BE58}"/>
              </a:ext>
            </a:extLst>
          </p:cNvPr>
          <p:cNvSpPr/>
          <p:nvPr/>
        </p:nvSpPr>
        <p:spPr>
          <a:xfrm>
            <a:off x="411480" y="34518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id="header"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42B8C3A-CE37-ED9F-0AFD-CFFA715ACD01}"/>
              </a:ext>
            </a:extLst>
          </p:cNvPr>
          <p:cNvSpPr/>
          <p:nvPr/>
        </p:nvSpPr>
        <p:spPr>
          <a:xfrm>
            <a:off x="411480" y="38633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9D1D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Names a single element. Only one element per id per page. Target with #header in CSS. Reach for it sparingly — most things should use class.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FE44AFD-73F9-B2F6-1CA8-28BEE72CE4AE}"/>
              </a:ext>
            </a:extLst>
          </p:cNvPr>
          <p:cNvSpPr/>
          <p:nvPr/>
        </p:nvSpPr>
        <p:spPr>
          <a:xfrm>
            <a:off x="411480" y="422910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1C94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#header { background: black; }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AF13E297-2B59-A52C-6636-C8E3EF4E4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086100"/>
            <a:ext cx="4069080" cy="3657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0627B4E8-E6AA-1855-B5FE-C4332E54ED60}"/>
              </a:ext>
            </a:extLst>
          </p:cNvPr>
          <p:cNvSpPr/>
          <p:nvPr/>
        </p:nvSpPr>
        <p:spPr>
          <a:xfrm>
            <a:off x="4663440" y="319582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HTML ATTR · REUSABLE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B25D5F5F-3EE0-05A1-673F-2081FDBDACCB}"/>
              </a:ext>
            </a:extLst>
          </p:cNvPr>
          <p:cNvSpPr/>
          <p:nvPr/>
        </p:nvSpPr>
        <p:spPr>
          <a:xfrm>
            <a:off x="4663440" y="34518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class="btn primary"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50B7CE11-20DE-75DF-4F34-EDA66C3E21A7}"/>
              </a:ext>
            </a:extLst>
          </p:cNvPr>
          <p:cNvSpPr/>
          <p:nvPr/>
        </p:nvSpPr>
        <p:spPr>
          <a:xfrm>
            <a:off x="4663440" y="38633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9D1D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Tags any number of elements. Space-separated list — one element can wear several. Target with .btn in CSS. The everyday workhorse.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A9F9E305-DB84-EBD0-1588-AE5681C58D95}"/>
              </a:ext>
            </a:extLst>
          </p:cNvPr>
          <p:cNvSpPr/>
          <p:nvPr/>
        </p:nvSpPr>
        <p:spPr>
          <a:xfrm>
            <a:off x="4663440" y="422910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.btn { padding: 0.5rem 1rem; }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0D3CBDC-AC05-A1F9-1F6C-52F48230F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582130" y="4373188"/>
            <a:ext cx="525780" cy="699552"/>
            <a:chOff x="8582130" y="4373188"/>
            <a:chExt cx="525780" cy="69955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2A7B201-4B25-72CF-7DCB-E36C8CDB31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82130" y="4898968"/>
              <a:ext cx="493290" cy="173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logo CEN3031">
              <a:extLst>
                <a:ext uri="{FF2B5EF4-FFF2-40B4-BE49-F238E27FC236}">
                  <a16:creationId xmlns:a16="http://schemas.microsoft.com/office/drawing/2014/main" id="{830FF286-1103-2AB8-0FB8-2824178B7B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2130" y="4373188"/>
              <a:ext cx="525780" cy="525780"/>
            </a:xfrm>
            <a:prstGeom prst="rect">
              <a:avLst/>
            </a:prstGeom>
          </p:spPr>
        </p:pic>
      </p:grpSp>
      <p:sp>
        <p:nvSpPr>
          <p:cNvPr id="27" name="Text 2">
            <a:extLst>
              <a:ext uri="{FF2B5EF4-FFF2-40B4-BE49-F238E27FC236}">
                <a16:creationId xmlns:a16="http://schemas.microsoft.com/office/drawing/2014/main" id="{C0471DD8-35ED-FB43-A142-D914E0077FD5}"/>
              </a:ext>
            </a:extLst>
          </p:cNvPr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C9D1D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When no semantic tag fits, reach for &lt;div&gt; or &lt;span&gt;. Give it a class to make it findable from CSS — an id only if it's truly one of a kind.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3397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Flexbox: one-dimensional layout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188720"/>
            <a:ext cx="4846320" cy="320040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2801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CONTAINER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36331" y="1554480"/>
            <a:ext cx="481290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.row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flex-direction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| column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flex-start | center | flex-end | space-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between | space-around | space-evenly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flex-start | center | flex-end | stretch |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baseline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1rem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A CHILD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1 auto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/* flex-grow | flex-shrink | flex-basis */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394960" y="11658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394960" y="1405011"/>
            <a:ext cx="33832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justify-content: space-between </a:t>
            </a:r>
            <a:r>
              <a:rPr lang="en-US" sz="1000" dirty="0">
                <a:solidFill>
                  <a:schemeClr val="bg2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(item 1 touches the start, last item touches the end, remaining space is distributed between items)</a:t>
            </a:r>
            <a:endParaRPr lang="en-US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70342" y="2011680"/>
            <a:ext cx="3383280" cy="342900"/>
          </a:xfrm>
          <a:prstGeom prst="rect">
            <a:avLst/>
          </a:prstGeom>
          <a:solidFill>
            <a:srgbClr val="00000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61782" y="2080260"/>
            <a:ext cx="457200" cy="20574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3382" y="2080260"/>
            <a:ext cx="457200" cy="20574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04982" y="2080260"/>
            <a:ext cx="457200" cy="20574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394960" y="2468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flex-direction: row; align-items: center</a:t>
            </a:r>
            <a:endParaRPr lang="en-US" sz="1000" dirty="0"/>
          </a:p>
        </p:txBody>
      </p:sp>
      <p:sp>
        <p:nvSpPr>
          <p:cNvPr id="15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94960" y="2743200"/>
            <a:ext cx="338328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2120" y="2880360"/>
            <a:ext cx="411480" cy="3657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948940"/>
            <a:ext cx="411480" cy="2286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29400" y="2834640"/>
            <a:ext cx="411480" cy="4572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394960" y="3611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flex: 1 — items share remaining space</a:t>
            </a:r>
            <a:endParaRPr lang="en-US" sz="1000" dirty="0"/>
          </a:p>
        </p:txBody>
      </p:sp>
      <p:sp>
        <p:nvSpPr>
          <p:cNvPr id="20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94960" y="3886200"/>
            <a:ext cx="338328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3977640"/>
            <a:ext cx="1005840" cy="274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37960" y="3977640"/>
            <a:ext cx="1005840" cy="274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0" y="3977640"/>
            <a:ext cx="1005840" cy="274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90611" y="4612444"/>
            <a:ext cx="7098909" cy="30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flexbox, items lay out along two perpendicular axes: the </a:t>
            </a:r>
            <a:r>
              <a:rPr lang="en-US" sz="1100" i="1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axis </a:t>
            </a: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direction items flow, and the </a:t>
            </a:r>
            <a:r>
              <a:rPr lang="en-US" sz="1100" i="1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axis </a:t>
            </a: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perpendicular one. Which axis is horizontal and which is vertical depends entirely on flex-direction. </a:t>
            </a:r>
            <a:r>
              <a:rPr lang="en-US" sz="1100" i="1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Align-items operate on cross axis and justify-content operates on main axis.</a:t>
            </a:r>
            <a:endParaRPr lang="en-US" sz="1100" dirty="0">
              <a:solidFill>
                <a:schemeClr val="accent4">
                  <a:lumMod val="75000"/>
                </a:schemeClr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D32AAD1-0750-6FB6-742B-8116953EE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582130" y="4373188"/>
            <a:ext cx="525780" cy="699552"/>
            <a:chOff x="8582130" y="4373188"/>
            <a:chExt cx="525780" cy="699552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9191202-E32F-5308-791E-94AFAB6496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82130" y="4898968"/>
              <a:ext cx="493290" cy="173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6" descr="logo CEN3031">
              <a:extLst>
                <a:ext uri="{FF2B5EF4-FFF2-40B4-BE49-F238E27FC236}">
                  <a16:creationId xmlns:a16="http://schemas.microsoft.com/office/drawing/2014/main" id="{F3F8F8F1-BDA6-EBBC-6682-5ADC9C38E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2130" y="4373188"/>
              <a:ext cx="525780" cy="5257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Grid: two-dimensional layout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188720"/>
            <a:ext cx="4572000" cy="310896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325880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.page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200px 1fr 1fr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grid-template-rows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1fr auto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1rem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.main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grid-column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4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</a:t>
            </a:r>
          </a:p>
          <a:p>
            <a:pPr marL="0" indent="0">
              <a:buNone/>
            </a:pPr>
            <a:endParaRPr lang="en-US" sz="1200" dirty="0">
              <a:solidFill>
                <a:srgbClr val="8B949E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F05033"/>
                </a:solidFill>
                <a:latin typeface="Consolas" pitchFamily="34" charset="0"/>
              </a:rPr>
              <a:t>header, footer 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</a:rPr>
              <a:t>{ </a:t>
            </a:r>
            <a:r>
              <a:rPr lang="en-US" sz="1200" dirty="0">
                <a:solidFill>
                  <a:srgbClr val="58A6FF"/>
                </a:solidFill>
                <a:latin typeface="Consolas" pitchFamily="34" charset="0"/>
              </a:rPr>
              <a:t>grid-column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</a:rPr>
              <a:t>: </a:t>
            </a:r>
            <a:r>
              <a:rPr lang="en-US" sz="1200" dirty="0">
                <a:solidFill>
                  <a:srgbClr val="3FB950"/>
                </a:solidFill>
                <a:latin typeface="Consolas" pitchFamily="34" charset="0"/>
              </a:rPr>
              <a:t>1 / -1; 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</a:rPr>
              <a:t>}</a:t>
            </a:r>
          </a:p>
          <a:p>
            <a:pPr marL="0" indent="0">
              <a:buNone/>
            </a:pPr>
            <a:endParaRPr lang="en-US" sz="1200" dirty="0">
              <a:solidFill>
                <a:srgbClr val="8B949E"/>
              </a:solidFill>
              <a:latin typeface="Consolas" pitchFamily="34" charset="0"/>
            </a:endParaRPr>
          </a:p>
          <a:p>
            <a:r>
              <a:rPr lang="en-US" sz="1000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</a:rPr>
              <a:t>* </a:t>
            </a:r>
            <a:r>
              <a:rPr lang="en-US" sz="1000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1fr refers to 1 fractional unit which splits whatever remains after the fixed sizes and gaps are subtracted</a:t>
            </a:r>
          </a:p>
          <a:p>
            <a:endParaRPr lang="en-US" sz="200" dirty="0">
              <a:solidFill>
                <a:schemeClr val="accent4">
                  <a:lumMod val="75000"/>
                </a:schemeClr>
              </a:solidFill>
              <a:latin typeface="Consolas" pitchFamily="34" charset="0"/>
            </a:endParaRPr>
          </a:p>
          <a:p>
            <a:r>
              <a:rPr lang="en-US" sz="1000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</a:rPr>
              <a:t>** 1rem = the document's root font size, typically 16 </a:t>
            </a:r>
            <a:r>
              <a:rPr lang="en-US" sz="1000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</a:rPr>
              <a:t>px</a:t>
            </a:r>
            <a:r>
              <a:rPr lang="en-US" sz="1000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</a:rPr>
              <a:t>.</a:t>
            </a:r>
          </a:p>
          <a:p>
            <a:r>
              <a:rPr lang="en-US" sz="1000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</a:rPr>
              <a:t>*** means start at line 2, end at line 4 — which covers columns 2 and 3, leaving column 1 free for the sidebar.</a:t>
            </a:r>
            <a:endParaRPr lang="en-US" sz="105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5394960" y="12344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900" dirty="0"/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94960" y="1508760"/>
            <a:ext cx="3383280" cy="54864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394960" y="1508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endParaRPr lang="en-US" sz="1100" dirty="0"/>
          </a:p>
        </p:txBody>
      </p:sp>
      <p:sp>
        <p:nvSpPr>
          <p:cNvPr id="10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94960" y="2130552"/>
            <a:ext cx="640080" cy="1463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394960" y="2130552"/>
            <a:ext cx="640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</a:t>
            </a:r>
            <a:endParaRPr lang="en-US" sz="1000" dirty="0"/>
          </a:p>
        </p:txBody>
      </p:sp>
      <p:sp>
        <p:nvSpPr>
          <p:cNvPr id="12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08192" y="2130552"/>
            <a:ext cx="2670048" cy="14630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108192" y="2130552"/>
            <a:ext cx="2670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(col 2 / 4)</a:t>
            </a:r>
            <a:endParaRPr lang="en-US" sz="1100" dirty="0"/>
          </a:p>
        </p:txBody>
      </p:sp>
      <p:sp>
        <p:nvSpPr>
          <p:cNvPr id="14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94960" y="3666744"/>
            <a:ext cx="3383280" cy="457200"/>
          </a:xfrm>
          <a:prstGeom prst="rect">
            <a:avLst/>
          </a:prstGeom>
          <a:solidFill>
            <a:srgbClr val="F1C940"/>
          </a:solidFill>
          <a:ln w="12700">
            <a:solidFill>
              <a:srgbClr val="F1C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394960" y="36667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grid for page-level structure, flex inside each region. They compose.</a:t>
            </a:r>
            <a:endParaRPr lang="en-US" sz="11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D324BBA-9910-9519-F7EF-EEC3DF087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78240" y="4131321"/>
            <a:ext cx="0" cy="11862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51924D3-F4E0-2D29-FD71-4DB150C09810}"/>
              </a:ext>
            </a:extLst>
          </p:cNvPr>
          <p:cNvSpPr txBox="1"/>
          <p:nvPr/>
        </p:nvSpPr>
        <p:spPr>
          <a:xfrm>
            <a:off x="5292308" y="4218882"/>
            <a:ext cx="2359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4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DFD877-3CA3-0649-098E-7357FAA96742}"/>
              </a:ext>
            </a:extLst>
          </p:cNvPr>
          <p:cNvSpPr txBox="1"/>
          <p:nvPr/>
        </p:nvSpPr>
        <p:spPr>
          <a:xfrm>
            <a:off x="5957470" y="4218882"/>
            <a:ext cx="2359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41FDC4-A363-ECF5-593D-C97B0A2AD39B}"/>
              </a:ext>
            </a:extLst>
          </p:cNvPr>
          <p:cNvSpPr txBox="1"/>
          <p:nvPr/>
        </p:nvSpPr>
        <p:spPr>
          <a:xfrm>
            <a:off x="7300111" y="4218882"/>
            <a:ext cx="2359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4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3402B0-15BC-4349-EB15-1960FC0F9BFE}"/>
              </a:ext>
            </a:extLst>
          </p:cNvPr>
          <p:cNvSpPr txBox="1"/>
          <p:nvPr/>
        </p:nvSpPr>
        <p:spPr>
          <a:xfrm>
            <a:off x="8660259" y="4218882"/>
            <a:ext cx="2359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4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8153DA-FB79-B5A2-3DCD-725A73C0FAFB}"/>
              </a:ext>
            </a:extLst>
          </p:cNvPr>
          <p:cNvSpPr txBox="1"/>
          <p:nvPr/>
        </p:nvSpPr>
        <p:spPr>
          <a:xfrm>
            <a:off x="6555547" y="225083"/>
            <a:ext cx="24407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"page"</a:t>
            </a:r>
            <a:r>
              <a:rPr lang="en-US" sz="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  </a:t>
            </a:r>
          </a:p>
          <a:p>
            <a:pPr>
              <a:buNone/>
            </a:pP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en-US" sz="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…</a:t>
            </a:r>
            <a:r>
              <a:rPr lang="en-US" sz="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en-US" sz="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en-US" sz="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…</a:t>
            </a:r>
            <a:r>
              <a:rPr lang="en-US" sz="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en-US" sz="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"main"</a:t>
            </a:r>
            <a:r>
              <a:rPr lang="en-US" sz="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…</a:t>
            </a:r>
            <a:r>
              <a:rPr lang="en-US" sz="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en-US" sz="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…</a:t>
            </a:r>
            <a:r>
              <a:rPr lang="en-US" sz="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en-US" sz="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sz="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9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98500AC-B807-0F13-5E34-991EF7CC8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582130" y="4373188"/>
            <a:ext cx="525780" cy="699552"/>
            <a:chOff x="8582130" y="4373188"/>
            <a:chExt cx="525780" cy="699552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B204E622-A93B-82B1-0806-F34C2DF8E8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82130" y="4898968"/>
              <a:ext cx="493290" cy="173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34" descr="logo CEN3031">
              <a:extLst>
                <a:ext uri="{FF2B5EF4-FFF2-40B4-BE49-F238E27FC236}">
                  <a16:creationId xmlns:a16="http://schemas.microsoft.com/office/drawing/2014/main" id="{F531B77F-082B-E297-98C6-D6D043A50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2130" y="4373188"/>
              <a:ext cx="525780" cy="525780"/>
            </a:xfrm>
            <a:prstGeom prst="rect">
              <a:avLst/>
            </a:prstGeom>
          </p:spPr>
        </p:pic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8CB0C5D-0EA0-C819-9570-824617EF7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12990" y="4131321"/>
            <a:ext cx="0" cy="11862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858BD33-F1CE-BF0E-3C1C-C3B22FFD4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03850" y="4143329"/>
            <a:ext cx="0" cy="11862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4F2790F-A123-8A33-432E-94BCC3072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82665" y="4131321"/>
            <a:ext cx="0" cy="11862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design: one document, every screen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280160"/>
            <a:ext cx="731520" cy="1280160"/>
          </a:xfrm>
          <a:prstGeom prst="rect">
            <a:avLst/>
          </a:prstGeom>
          <a:solidFill>
            <a:srgbClr val="000000"/>
          </a:solidFill>
          <a:ln w="1905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2606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00" dirty="0"/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54480" y="1463040"/>
            <a:ext cx="1280160" cy="1097280"/>
          </a:xfrm>
          <a:prstGeom prst="rect">
            <a:avLst/>
          </a:prstGeom>
          <a:solidFill>
            <a:srgbClr val="000000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554480" y="26060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900" dirty="0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520" y="1645920"/>
            <a:ext cx="2011680" cy="914400"/>
          </a:xfrm>
          <a:prstGeom prst="rect">
            <a:avLst/>
          </a:prstGeom>
          <a:solidFill>
            <a:srgbClr val="000000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017520" y="2606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900" dirty="0"/>
          </a:p>
        </p:txBody>
      </p:sp>
      <p:sp>
        <p:nvSpPr>
          <p:cNvPr id="11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98648"/>
            <a:ext cx="137160" cy="13716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2834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units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37744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%, rem, vw, fr — not fixed px — so layouts breathe.</a:t>
            </a:r>
            <a:endParaRPr lang="en-US" sz="1000" dirty="0"/>
          </a:p>
        </p:txBody>
      </p:sp>
      <p:sp>
        <p:nvSpPr>
          <p:cNvPr id="14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10128"/>
            <a:ext cx="137160" cy="13716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3152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37744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different rules above/below a width threshold.</a:t>
            </a:r>
            <a:endParaRPr lang="en-US" sz="1000" dirty="0"/>
          </a:p>
        </p:txBody>
      </p:sp>
      <p:sp>
        <p:nvSpPr>
          <p:cNvPr id="17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21608"/>
            <a:ext cx="137160" cy="13716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152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&amp; grid wrap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377440" y="3657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reflow into more or fewer rows automatically.</a:t>
            </a:r>
            <a:endParaRPr lang="en-US" sz="1000" dirty="0"/>
          </a:p>
        </p:txBody>
      </p:sp>
      <p:sp>
        <p:nvSpPr>
          <p:cNvPr id="20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33088"/>
            <a:ext cx="137160" cy="13716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31520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clamp() &amp; min/max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377440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value with a floor, ceiling, and preference in one expression.</a:t>
            </a:r>
            <a:endParaRPr lang="en-US" sz="1000" dirty="0"/>
          </a:p>
        </p:txBody>
      </p:sp>
      <p:sp>
        <p:nvSpPr>
          <p:cNvPr id="23" name="Shap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0" y="1146266"/>
            <a:ext cx="3749040" cy="310896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394960" y="14356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427617" y="1810512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base — mobile first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.grid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grid-template-columns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1fr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min-width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768px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.grid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grid-template-columns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1fr 1fr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min-width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1100px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5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.grid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grid-template-columns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1fr 1fr 1fr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smallest screen and add complexity at wider breakpoints — “mobile first.”</a:t>
            </a:r>
            <a:endParaRPr lang="en-US" sz="11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CEA6C09-06A7-25AF-7123-A99767254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582130" y="4373188"/>
            <a:ext cx="525780" cy="699552"/>
            <a:chOff x="8582130" y="4373188"/>
            <a:chExt cx="525780" cy="699552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A0ABFB00-B93F-2212-69CA-DFC9C79647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82130" y="4898968"/>
              <a:ext cx="493290" cy="173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8" descr="logo CEN3031">
              <a:extLst>
                <a:ext uri="{FF2B5EF4-FFF2-40B4-BE49-F238E27FC236}">
                  <a16:creationId xmlns:a16="http://schemas.microsoft.com/office/drawing/2014/main" id="{F89C5208-C863-3D6F-BD77-050C7C192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2130" y="4373188"/>
              <a:ext cx="525780" cy="5257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HTML is not CSS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188720"/>
            <a:ext cx="4023360" cy="36576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1148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11480" y="1645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11480" y="237744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what content exists and how it nests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.html files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top-to-bottom by the browser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Owns: meaning, accessibility, document order</a:t>
            </a:r>
            <a:endParaRPr lang="en-US" sz="1200" dirty="0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188720"/>
            <a:ext cx="402336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70916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09160" y="1645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presentation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709160" y="237744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nodes and assigns properties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.css files, loaded by &lt;link&gt;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 via the cascade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Owns: color, size, spacing, layout, motion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them separate. Change one without breaking the other.</a:t>
            </a:r>
            <a:endParaRPr lang="en-US" sz="11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2ED308F-591B-9F8F-80F3-18BC812A5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582130" y="4373188"/>
            <a:ext cx="525780" cy="699552"/>
            <a:chOff x="8582130" y="4373188"/>
            <a:chExt cx="525780" cy="699552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C22E40E-BE72-1F37-B53F-D90F8D3034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82130" y="4898968"/>
              <a:ext cx="493290" cy="173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 descr="logo CEN3031">
              <a:extLst>
                <a:ext uri="{FF2B5EF4-FFF2-40B4-BE49-F238E27FC236}">
                  <a16:creationId xmlns:a16="http://schemas.microsoft.com/office/drawing/2014/main" id="{8BE72416-723A-FF38-EA5C-29D828307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2130" y="4373188"/>
              <a:ext cx="525780" cy="5257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to remember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1143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43000" y="11612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is a tree of meaning.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43000" y="14721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describe what each thing is. Style comes after.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783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43000" y="1801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is a box.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43000" y="21122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padding, border, margin — and where it sits in the tree.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2423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43000" y="2441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is select-then-style.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43000" y="275234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is a selector plus declarations. That's the whole syntax.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3063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143000" y="30815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decides ties.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43000" y="33924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&gt; id &gt; class &gt; tag. Source order breaks remaining ties.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143000" y="3721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and grid solve layout.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43000" y="403250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for the page, flex for the parts. Old hacks belong in old code.</a:t>
            </a:r>
            <a:endParaRPr lang="en-US" sz="11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BF0FC78-EE2A-561E-E24D-E49CFC8EE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582130" y="4373188"/>
            <a:ext cx="525780" cy="699552"/>
            <a:chOff x="8582130" y="4373188"/>
            <a:chExt cx="525780" cy="699552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3A458AB-F5D7-4996-AC8C-BBBA12534D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82130" y="4898968"/>
              <a:ext cx="493290" cy="173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logo CEN3031">
              <a:extLst>
                <a:ext uri="{FF2B5EF4-FFF2-40B4-BE49-F238E27FC236}">
                  <a16:creationId xmlns:a16="http://schemas.microsoft.com/office/drawing/2014/main" id="{073AD56F-A839-FD55-4C07-E54F7D544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2130" y="4373188"/>
              <a:ext cx="525780" cy="5257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Other resources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1143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926080" y="1143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reference for every HTML element and CSS property.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5800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developer.mozilla.org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CSS-Tricks Almanac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92608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Searchable, example-heavy guide to CSS properties and patterns.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css-tricks.com/almanac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Froggy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926080" y="2240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game that teaches every flex property by moving frogs.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flexboxfroggy.com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Garden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926080" y="2788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for CSS Grid — water plants by writing grid properties.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cssgridgarden.com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Use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926080" y="3337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a feature is supported in the browsers you target.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5800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caniuse.com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 Comeau's CSS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926080" y="3886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taste-first writing on what's actually idiomatic now.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85800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joshwcomeau.com</a:t>
            </a:r>
            <a:endParaRPr lang="en-US" sz="1100" dirty="0"/>
          </a:p>
        </p:txBody>
      </p:sp>
      <p:grpSp>
        <p:nvGrpSpPr>
          <p:cNvPr id="23" name="Group 22" descr="Creative commons licence">
            <a:extLst>
              <a:ext uri="{FF2B5EF4-FFF2-40B4-BE49-F238E27FC236}">
                <a16:creationId xmlns:a16="http://schemas.microsoft.com/office/drawing/2014/main" id="{6CCA0E3F-FA00-976F-6B2D-90663EE47587}"/>
              </a:ext>
            </a:extLst>
          </p:cNvPr>
          <p:cNvGrpSpPr/>
          <p:nvPr/>
        </p:nvGrpSpPr>
        <p:grpSpPr>
          <a:xfrm>
            <a:off x="8582130" y="4373188"/>
            <a:ext cx="525780" cy="699552"/>
            <a:chOff x="8582130" y="4373188"/>
            <a:chExt cx="525780" cy="699552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E759AF9-823F-1165-EF70-3B5BBD4BDA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82130" y="4898968"/>
              <a:ext cx="493290" cy="173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4" descr="logo CEN3031">
              <a:extLst>
                <a:ext uri="{FF2B5EF4-FFF2-40B4-BE49-F238E27FC236}">
                  <a16:creationId xmlns:a16="http://schemas.microsoft.com/office/drawing/2014/main" id="{09648D9A-A207-3D70-C82F-4876D0CBB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2130" y="4373188"/>
              <a:ext cx="525780" cy="5257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>
            <a:spLocks noGrp="1"/>
          </p:cNvSpPr>
          <p:nvPr>
            <p:ph type="title" idx="4294967295"/>
          </p:nvPr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Once you see the tree,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stops being scary.</a:t>
            </a:r>
            <a:endParaRPr lang="en-US" sz="3600" dirty="0"/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063240"/>
            <a:ext cx="914400" cy="36576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023360"/>
            <a:ext cx="5029200" cy="457200"/>
          </a:xfrm>
          <a:prstGeom prst="rect">
            <a:avLst/>
          </a:prstGeom>
          <a:solidFill>
            <a:srgbClr val="0D1015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404164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</a:t>
            </a: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400" dirty="0"/>
          </a:p>
        </p:txBody>
      </p:sp>
      <p:grpSp>
        <p:nvGrpSpPr>
          <p:cNvPr id="10" name="Group 9" descr="Creative commons licence">
            <a:extLst>
              <a:ext uri="{FF2B5EF4-FFF2-40B4-BE49-F238E27FC236}">
                <a16:creationId xmlns:a16="http://schemas.microsoft.com/office/drawing/2014/main" id="{A98CC76D-8708-F178-C3E6-22BC12046A9C}"/>
              </a:ext>
            </a:extLst>
          </p:cNvPr>
          <p:cNvGrpSpPr/>
          <p:nvPr/>
        </p:nvGrpSpPr>
        <p:grpSpPr>
          <a:xfrm>
            <a:off x="8582130" y="4373188"/>
            <a:ext cx="525780" cy="699552"/>
            <a:chOff x="8582130" y="4373188"/>
            <a:chExt cx="525780" cy="69955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BB0B432-A7A2-DD79-0D67-7CF1DD73F4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82130" y="4898968"/>
              <a:ext cx="493290" cy="173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logo CEN3031">
              <a:extLst>
                <a:ext uri="{FF2B5EF4-FFF2-40B4-BE49-F238E27FC236}">
                  <a16:creationId xmlns:a16="http://schemas.microsoft.com/office/drawing/2014/main" id="{E604C542-1454-86E4-D3AA-315B6F310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2130" y="4373188"/>
              <a:ext cx="525780" cy="5257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2743</Words>
  <Application>Microsoft Office PowerPoint</Application>
  <PresentationFormat>On-screen Show (16:9)</PresentationFormat>
  <Paragraphs>410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Arial</vt:lpstr>
      <vt:lpstr>Calibri</vt:lpstr>
      <vt:lpstr>Consolas</vt:lpstr>
      <vt:lpstr>Office Theme</vt:lpstr>
      <vt:lpstr>HTML &amp; CSS</vt:lpstr>
      <vt:lpstr>HTML &amp; CSS</vt:lpstr>
      <vt:lpstr>Questions HTML &amp; CSS let you answer</vt:lpstr>
      <vt:lpstr>HTML &amp; CSS are the de facto standard</vt:lpstr>
      <vt:lpstr>APPROACH</vt:lpstr>
      <vt:lpstr>The Document</vt:lpstr>
      <vt:lpstr>What is HTML, really?</vt:lpstr>
      <vt:lpstr>Anatomy of an element</vt:lpstr>
      <vt:lpstr>Anatomy of an HTML document</vt:lpstr>
      <vt:lpstr>The DOM tree</vt:lpstr>
      <vt:lpstr>The vocabulary of HTML</vt:lpstr>
      <vt:lpstr>Forms: the only way to ask the user something</vt:lpstr>
      <vt:lpstr>The Presentation</vt:lpstr>
      <vt:lpstr>Anatomy of a CSS rule</vt:lpstr>
      <vt:lpstr>Three ways to attach CSS</vt:lpstr>
      <vt:lpstr>The cascade: who wins when rules collide</vt:lpstr>
      <vt:lpstr>Every element is a box</vt:lpstr>
      <vt:lpstr>How boxes arrange themselves: display</vt:lpstr>
      <vt:lpstr>Generic containers — and how to name them</vt:lpstr>
      <vt:lpstr>CSS classes and IDs</vt:lpstr>
      <vt:lpstr>Flexbox: one-dimensional layout</vt:lpstr>
      <vt:lpstr>Grid: two-dimensional layout</vt:lpstr>
      <vt:lpstr>Responsive design: one document, every screen</vt:lpstr>
      <vt:lpstr>HTML is not CSS</vt:lpstr>
      <vt:lpstr>Five things to remember</vt:lpstr>
      <vt:lpstr>Other resources</vt:lpstr>
      <vt:lpstr>Once you see the tree,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&amp; CSS</dc:title>
  <dc:subject>PptxGenJS Presentation</dc:subject>
  <dc:creator>PptxGenJS</dc:creator>
  <cp:lastModifiedBy>Kapoor,Amanpreet</cp:lastModifiedBy>
  <cp:revision>14</cp:revision>
  <dcterms:created xsi:type="dcterms:W3CDTF">2026-05-23T10:45:56Z</dcterms:created>
  <dcterms:modified xsi:type="dcterms:W3CDTF">2026-05-24T17:25:56Z</dcterms:modified>
</cp:coreProperties>
</file>