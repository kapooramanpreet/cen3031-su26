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6" autoAdjust="0"/>
    <p:restoredTop sz="86432" autoAdjust="0"/>
  </p:normalViewPr>
  <p:slideViewPr>
    <p:cSldViewPr snapToGrid="0" snapToObjects="1">
      <p:cViewPr varScale="1">
        <p:scale>
          <a:sx n="98" d="100"/>
          <a:sy n="98" d="100"/>
        </p:scale>
        <p:origin x="102" y="3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419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4294967295"/>
          </p:nvPr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 Engineering (CEN 3031)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that makes the page do things.</a:t>
            </a:r>
            <a:endParaRPr lang="en-US" sz="1500" dirty="0"/>
          </a:p>
        </p:txBody>
      </p:sp>
      <p:pic>
        <p:nvPicPr>
          <p:cNvPr id="6" name="Picture 5" descr="logo CEN3031">
            <a:extLst>
              <a:ext uri="{FF2B5EF4-FFF2-40B4-BE49-F238E27FC236}">
                <a16:creationId xmlns:a16="http://schemas.microsoft.com/office/drawing/2014/main" id="{2BDD71D5-86A9-E4E6-71BE-BEBCDCA5F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850" y="3943350"/>
            <a:ext cx="1200150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310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5" name="Text 1"/>
          <p:cNvSpPr>
            <a:spLocks noGrp="1"/>
          </p:cNvSpPr>
          <p:nvPr>
            <p:ph type="title" idx="4294967295"/>
          </p:nvPr>
        </p:nvSpPr>
        <p:spPr>
          <a:xfrm>
            <a:off x="457200" y="566928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 2"/>
          <p:cNvSpPr/>
          <p:nvPr/>
        </p:nvSpPr>
        <p:spPr>
          <a:xfrm>
            <a:off x="457200" y="11704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is the structure and CSS is the look. JavaScript is the behavior — it runs code in the browser to respond to the user and change the page while it's open.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45720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457200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31089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reacts to events — clicks, typing, timers — and updates what's on the screen without reloading the page.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20040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200400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LANGUAGE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00400" y="31089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variables, functions, objects. A small core you can learn quickly and use everywhere on the web.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94360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5943600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RUNTIME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943600" y="31089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 inside an engine in the browser (or Node). One thread, an event loop, and APIs to reach the page and the network.</a:t>
            </a:r>
            <a:endParaRPr lang="en-US" sz="1250" dirty="0"/>
          </a:p>
        </p:txBody>
      </p:sp>
      <p:pic>
        <p:nvPicPr>
          <p:cNvPr id="16" name="Picture 15" descr="Creative commons licence">
            <a:extLst>
              <a:ext uri="{FF2B5EF4-FFF2-40B4-BE49-F238E27FC236}">
                <a16:creationId xmlns:a16="http://schemas.microsoft.com/office/drawing/2014/main" id="{05602CEE-D3BD-63EE-8142-E06372522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logo CEN3031">
            <a:extLst>
              <a:ext uri="{FF2B5EF4-FFF2-40B4-BE49-F238E27FC236}">
                <a16:creationId xmlns:a16="http://schemas.microsoft.com/office/drawing/2014/main" id="{07D2EC6B-8801-027D-751D-89CCE4913C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Questions JavaScript lets you answer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57200" y="1234440"/>
            <a:ext cx="566928" cy="566928"/>
          </a:xfrm>
          <a:prstGeom prst="ellipse">
            <a:avLst/>
          </a:prstGeom>
          <a:solidFill>
            <a:srgbClr val="0D1015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457200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234440" y="12161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 when the user does something?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234440" y="158191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on a click, a keystroke, a form submit, or a timer — answered by event listeners.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313432"/>
            <a:ext cx="566928" cy="566928"/>
          </a:xfrm>
          <a:prstGeom prst="ellipse">
            <a:avLst/>
          </a:prstGeom>
          <a:solidFill>
            <a:srgbClr val="0D1015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57200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2951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change the page after it has loaded?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34440" y="266090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rewrite the DOM — text, attributes, styles, whole elements — answered by the document API.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392424"/>
            <a:ext cx="566928" cy="566928"/>
          </a:xfrm>
          <a:prstGeom prst="ellipse">
            <a:avLst/>
          </a:prstGeom>
          <a:solidFill>
            <a:srgbClr val="0D1015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57200" y="3392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234440" y="33741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work with data that arrives later?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234440" y="373989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from a server and handle the result when it comes back — answered by promises and async/await.</a:t>
            </a:r>
            <a:endParaRPr lang="en-US" sz="1300" dirty="0"/>
          </a:p>
        </p:txBody>
      </p:sp>
      <p:pic>
        <p:nvPicPr>
          <p:cNvPr id="17" name="Picture 16" descr="Creative commons licence">
            <a:extLst>
              <a:ext uri="{FF2B5EF4-FFF2-40B4-BE49-F238E27FC236}">
                <a16:creationId xmlns:a16="http://schemas.microsoft.com/office/drawing/2014/main" id="{ACDD4AE8-501A-4C67-5726-BF3F281B4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logo CEN3031">
            <a:extLst>
              <a:ext uri="{FF2B5EF4-FFF2-40B4-BE49-F238E27FC236}">
                <a16:creationId xmlns:a16="http://schemas.microsoft.com/office/drawing/2014/main" id="{7FFCD2AD-F50C-AF1F-1746-C588DEAE9D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runs everywhere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051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languages run the browser's plugins, the server, the phone — but only one language runs inside every browser by default.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57200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</a:t>
            </a:r>
            <a:r>
              <a:rPr lang="en-US" sz="26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JS.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457200" y="2697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already ships an engine to run it — no install, no plugin.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Node, the same language runs servers and tools too.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72000" y="1051560"/>
            <a:ext cx="3840480" cy="301752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754880" y="10972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6000" dirty="0"/>
          </a:p>
        </p:txBody>
      </p:sp>
      <p:sp>
        <p:nvSpPr>
          <p:cNvPr id="10" name="Text 6"/>
          <p:cNvSpPr/>
          <p:nvPr/>
        </p:nvSpPr>
        <p:spPr>
          <a:xfrm>
            <a:off x="4892040" y="19202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and it runs on every device that has a browser — which is all of them. That reach is why the language never went away.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89204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a working principle of the web</a:t>
            </a:r>
            <a:endParaRPr lang="en-US" sz="1100" dirty="0"/>
          </a:p>
        </p:txBody>
      </p:sp>
      <p:pic>
        <p:nvPicPr>
          <p:cNvPr id="12" name="Picture 11" descr="Creative commons licence">
            <a:extLst>
              <a:ext uri="{FF2B5EF4-FFF2-40B4-BE49-F238E27FC236}">
                <a16:creationId xmlns:a16="http://schemas.microsoft.com/office/drawing/2014/main" id="{131DB1A7-30E6-9593-28C1-3065887B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logo CEN3031">
            <a:extLst>
              <a:ext uri="{FF2B5EF4-FFF2-40B4-BE49-F238E27FC236}">
                <a16:creationId xmlns:a16="http://schemas.microsoft.com/office/drawing/2014/main" id="{4FAAEAA1-66D4-5887-A41A-0ADC3B04BD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10896"/>
            <a:ext cx="7863840" cy="2743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050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language first.</a:t>
            </a:r>
            <a:endParaRPr lang="en-US" sz="3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later.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457200" y="3246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Vue, and the rest are just JavaScript with conventions. Once values, functions, and the event loop click, every framework stops being magic and starts being plain code you can read.</a:t>
            </a:r>
            <a:endParaRPr lang="en-US" sz="1500" dirty="0"/>
          </a:p>
        </p:txBody>
      </p:sp>
      <p:pic>
        <p:nvPicPr>
          <p:cNvPr id="7" name="Picture 6" descr="Creative commons licence">
            <a:extLst>
              <a:ext uri="{FF2B5EF4-FFF2-40B4-BE49-F238E27FC236}">
                <a16:creationId xmlns:a16="http://schemas.microsoft.com/office/drawing/2014/main" id="{02D9FA51-F0CD-6675-5C12-7EBFE62DC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 CEN3031">
            <a:extLst>
              <a:ext uri="{FF2B5EF4-FFF2-40B4-BE49-F238E27FC236}">
                <a16:creationId xmlns:a16="http://schemas.microsoft.com/office/drawing/2014/main" id="{1A5EC11C-7593-92D8-77DE-0EEB0D643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13716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0" dirty="0"/>
          </a:p>
        </p:txBody>
      </p:sp>
      <p:sp>
        <p:nvSpPr>
          <p:cNvPr id="5" name="Text 1"/>
          <p:cNvSpPr/>
          <p:nvPr/>
        </p:nvSpPr>
        <p:spPr>
          <a:xfrm>
            <a:off x="38404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2"/>
          <p:cNvSpPr>
            <a:spLocks noGrp="1"/>
          </p:cNvSpPr>
          <p:nvPr>
            <p:ph type="title" idx="4294967295"/>
          </p:nvPr>
        </p:nvSpPr>
        <p:spPr>
          <a:xfrm>
            <a:off x="3840480" y="2194560"/>
            <a:ext cx="475488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 3"/>
          <p:cNvSpPr/>
          <p:nvPr/>
        </p:nvSpPr>
        <p:spPr>
          <a:xfrm>
            <a:off x="3840480" y="2880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variables, functions, and the data structures everything is built from.</a:t>
            </a:r>
            <a:endParaRPr lang="en-US" sz="1400" dirty="0"/>
          </a:p>
        </p:txBody>
      </p:sp>
      <p:pic>
        <p:nvPicPr>
          <p:cNvPr id="8" name="Picture 7" descr="Creative commons licence">
            <a:extLst>
              <a:ext uri="{FF2B5EF4-FFF2-40B4-BE49-F238E27FC236}">
                <a16:creationId xmlns:a16="http://schemas.microsoft.com/office/drawing/2014/main" id="{51C3AD98-2CB0-E969-AF36-B52A555E9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logo CEN3031">
            <a:extLst>
              <a:ext uri="{FF2B5EF4-FFF2-40B4-BE49-F238E27FC236}">
                <a16:creationId xmlns:a16="http://schemas.microsoft.com/office/drawing/2014/main" id="{AE2836DA-ADD3-1CF2-2DD0-F81947397C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 value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024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JavaScript program is values being created, combined, and passed around. There are a handful of primitive types, plus objects.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57200" y="1600200"/>
            <a:ext cx="3840480" cy="8229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1792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2560320" y="1691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in quotes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21792" y="20025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  'hi'  `web`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26280" y="1600200"/>
            <a:ext cx="3840480" cy="8229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690872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629400" y="1691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 for all numbers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690872" y="20025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 3.14   -7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2560320"/>
            <a:ext cx="3840480" cy="8229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560320" y="2651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21792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 false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526280" y="2560320"/>
            <a:ext cx="3840480" cy="8229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690872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&amp; undefined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629400" y="2651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"nothing" and "not set"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690872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  undefined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57200" y="3520440"/>
            <a:ext cx="3840480" cy="8229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21792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256032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21792" y="39227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   [ ]   function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526280" y="3520440"/>
            <a:ext cx="3840480" cy="8229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690872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62940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value its type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690872" y="39227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42  // 'number'</a:t>
            </a:r>
            <a:endParaRPr lang="en-US" sz="1250" dirty="0"/>
          </a:p>
        </p:txBody>
      </p:sp>
      <p:pic>
        <p:nvPicPr>
          <p:cNvPr id="30" name="Picture 29" descr="Creative commons licence">
            <a:extLst>
              <a:ext uri="{FF2B5EF4-FFF2-40B4-BE49-F238E27FC236}">
                <a16:creationId xmlns:a16="http://schemas.microsoft.com/office/drawing/2014/main" id="{860CF756-0F4A-182D-9143-488455910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 descr="logo CEN3031">
            <a:extLst>
              <a:ext uri="{FF2B5EF4-FFF2-40B4-BE49-F238E27FC236}">
                <a16:creationId xmlns:a16="http://schemas.microsoft.com/office/drawing/2014/main" id="{ACADB8E5-20C3-A02B-AEFC-5A61B8857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const, let, (and var)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57200" y="1097280"/>
            <a:ext cx="4663440" cy="24688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621792" y="1207008"/>
            <a:ext cx="43342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"Ada"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cannot be reassigned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</a:t>
            </a: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can change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ok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 blocks reassignment,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mutation: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 </a:t>
            </a: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fine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44068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4068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choice. The binding can't be reassigned.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4068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40680" y="2304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value genuinely changes over time.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4068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40680" y="3081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Legacy. Function-scoped and surprising — avoid it.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4736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const first. Switch to let only when you must reassign.</a:t>
            </a:r>
            <a:endParaRPr lang="en-US" sz="1050" dirty="0"/>
          </a:p>
        </p:txBody>
      </p:sp>
      <p:pic>
        <p:nvPicPr>
          <p:cNvPr id="14" name="Picture 13" descr="Creative commons licence">
            <a:extLst>
              <a:ext uri="{FF2B5EF4-FFF2-40B4-BE49-F238E27FC236}">
                <a16:creationId xmlns:a16="http://schemas.microsoft.com/office/drawing/2014/main" id="{AA9EB06E-E62E-0748-4D42-E1CD965AA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CEN3031">
            <a:extLst>
              <a:ext uri="{FF2B5EF4-FFF2-40B4-BE49-F238E27FC236}">
                <a16:creationId xmlns:a16="http://schemas.microsoft.com/office/drawing/2014/main" id="{B4E39FFD-AA95-6077-995E-C00001B2DB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and truthiness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57200" y="1097280"/>
            <a:ext cx="4663440" cy="274320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621792" y="1207008"/>
            <a:ext cx="433425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"ab"  (concatenation)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  (coerces — avoid)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=== 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  (use this)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... }   </a:t>
            </a: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if "truthy"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falsy: false 0 "" null undefined NaN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?? </a:t>
            </a: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"default"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x unless null/undefined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44068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</a:t>
            </a:r>
            <a:r>
              <a:rPr lang="en-US" sz="15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</a:t>
            </a:r>
            <a:r>
              <a:rPr lang="en-US" sz="15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5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!==</a:t>
            </a:r>
            <a:r>
              <a:rPr lang="en-US" sz="15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44068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loose == quietly converts types before comparing, which causes bugs that are hard to see.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4068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values are “falsy.” Everything else is truthy, including “0” as a string and empty arrays.</a:t>
            </a:r>
            <a:endParaRPr lang="en-US" sz="1300" dirty="0"/>
          </a:p>
        </p:txBody>
      </p:sp>
      <p:pic>
        <p:nvPicPr>
          <p:cNvPr id="10" name="Picture 9" descr="Creative commons licence">
            <a:extLst>
              <a:ext uri="{FF2B5EF4-FFF2-40B4-BE49-F238E27FC236}">
                <a16:creationId xmlns:a16="http://schemas.microsoft.com/office/drawing/2014/main" id="{1A41D2F1-BE9E-316B-6583-506FB09E3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logo CEN3031">
            <a:extLst>
              <a:ext uri="{FF2B5EF4-FFF2-40B4-BE49-F238E27FC236}">
                <a16:creationId xmlns:a16="http://schemas.microsoft.com/office/drawing/2014/main" id="{98A001CF-17E5-9158-8BF9-1B6AE761EF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write a function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DECLARATION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990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Hoisted — usable before it appears.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514600" y="1051560"/>
            <a:ext cx="5897880" cy="932688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2679192" y="1161288"/>
            <a:ext cx="5568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2176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247802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stored in a variable.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514600" y="2130552"/>
            <a:ext cx="5897880" cy="932688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679192" y="2240280"/>
            <a:ext cx="5568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32552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355701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Short. Inherits the surrounding this.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514600" y="3209544"/>
            <a:ext cx="5897880" cy="566928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679192" y="3319272"/>
            <a:ext cx="5568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" y="4736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different syntax. Arrow functions are the modern default for short callbacks.</a:t>
            </a:r>
            <a:endParaRPr lang="en-US" sz="1050" dirty="0"/>
          </a:p>
        </p:txBody>
      </p:sp>
      <p:pic>
        <p:nvPicPr>
          <p:cNvPr id="18" name="Picture 17" descr="Creative commons licence">
            <a:extLst>
              <a:ext uri="{FF2B5EF4-FFF2-40B4-BE49-F238E27FC236}">
                <a16:creationId xmlns:a16="http://schemas.microsoft.com/office/drawing/2014/main" id="{C39DC233-1BCE-25D0-C7D9-7E2B34B3A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logo CEN3031">
            <a:extLst>
              <a:ext uri="{FF2B5EF4-FFF2-40B4-BE49-F238E27FC236}">
                <a16:creationId xmlns:a16="http://schemas.microsoft.com/office/drawing/2014/main" id="{76E8D3A2-A924-A601-98A4-58EC2A17A0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and repeating work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57200" y="1097280"/>
            <a:ext cx="3977640" cy="283464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621792" y="1207008"/>
            <a:ext cx="364845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"hot"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"mild"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"cold"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4572000" y="1097280"/>
            <a:ext cx="3840480" cy="283464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736592" y="1207008"/>
            <a:ext cx="351129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    </a:t>
            </a: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 1 2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    </a:t>
            </a: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each item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39776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chooses a branch.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/ for...of repeat work.</a:t>
            </a:r>
            <a:endParaRPr lang="en-US" sz="1250" dirty="0"/>
          </a:p>
        </p:txBody>
      </p:sp>
      <p:pic>
        <p:nvPicPr>
          <p:cNvPr id="11" name="Picture 10" descr="Creative commons licence">
            <a:extLst>
              <a:ext uri="{FF2B5EF4-FFF2-40B4-BE49-F238E27FC236}">
                <a16:creationId xmlns:a16="http://schemas.microsoft.com/office/drawing/2014/main" id="{99211C5B-9A23-C598-A66D-924A342EE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logo CEN3031">
            <a:extLst>
              <a:ext uri="{FF2B5EF4-FFF2-40B4-BE49-F238E27FC236}">
                <a16:creationId xmlns:a16="http://schemas.microsoft.com/office/drawing/2014/main" id="{2D6E677E-1C88-0023-4914-F4DB089057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Arrays: ordered lists of values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57200" y="1097280"/>
            <a:ext cx="4663440" cy="274320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621792" y="1207008"/>
            <a:ext cx="433425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   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   (zero-based)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to the end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[8,16,30,32]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[15, 16]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43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4068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40680" y="1463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every item → new array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40680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40680" y="21762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items that pass a test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40680" y="2615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40680" y="28895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the list to one value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40680" y="33284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40680" y="36027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for each item</a:t>
            </a:r>
            <a:endParaRPr lang="en-US" sz="1200" dirty="0"/>
          </a:p>
        </p:txBody>
      </p:sp>
      <p:pic>
        <p:nvPicPr>
          <p:cNvPr id="15" name="Picture 14" descr="Creative commons licence">
            <a:extLst>
              <a:ext uri="{FF2B5EF4-FFF2-40B4-BE49-F238E27FC236}">
                <a16:creationId xmlns:a16="http://schemas.microsoft.com/office/drawing/2014/main" id="{49FE82E7-B3E5-5756-65AF-94A34C2D6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logo CEN3031">
            <a:extLst>
              <a:ext uri="{FF2B5EF4-FFF2-40B4-BE49-F238E27FC236}">
                <a16:creationId xmlns:a16="http://schemas.microsoft.com/office/drawing/2014/main" id="{DB82A184-7A62-4EA0-28C2-47042D52D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Objects: named properties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57200" y="1097280"/>
            <a:ext cx="4663440" cy="278892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621792" y="1207008"/>
            <a:ext cx="433425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"Ada"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"hi, 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"Ada"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"hi, Ada"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destructure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4068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40680" y="1463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paired with a value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40680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40680" y="21762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stored on an object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40680" y="2615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40680" y="28895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a method runs 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40680" y="3328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destructure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40680" y="36027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fields into variables</a:t>
            </a:r>
            <a:endParaRPr lang="en-US" sz="1200" dirty="0"/>
          </a:p>
        </p:txBody>
      </p:sp>
      <p:pic>
        <p:nvPicPr>
          <p:cNvPr id="15" name="Picture 14" descr="Creative commons licence">
            <a:extLst>
              <a:ext uri="{FF2B5EF4-FFF2-40B4-BE49-F238E27FC236}">
                <a16:creationId xmlns:a16="http://schemas.microsoft.com/office/drawing/2014/main" id="{F898CB3F-4744-F107-D6B0-FA96F63E0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logo CEN3031">
            <a:extLst>
              <a:ext uri="{FF2B5EF4-FFF2-40B4-BE49-F238E27FC236}">
                <a16:creationId xmlns:a16="http://schemas.microsoft.com/office/drawing/2014/main" id="{441D899D-8D8E-3783-2EB3-122D68FB8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13716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0" dirty="0"/>
          </a:p>
        </p:txBody>
      </p:sp>
      <p:sp>
        <p:nvSpPr>
          <p:cNvPr id="5" name="Text 1"/>
          <p:cNvSpPr/>
          <p:nvPr/>
        </p:nvSpPr>
        <p:spPr>
          <a:xfrm>
            <a:off x="38404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2"/>
          <p:cNvSpPr>
            <a:spLocks noGrp="1"/>
          </p:cNvSpPr>
          <p:nvPr>
            <p:ph type="title" idx="4294967295"/>
          </p:nvPr>
        </p:nvSpPr>
        <p:spPr>
          <a:xfrm>
            <a:off x="3840480" y="2194560"/>
            <a:ext cx="475488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 3"/>
          <p:cNvSpPr/>
          <p:nvPr/>
        </p:nvSpPr>
        <p:spPr>
          <a:xfrm>
            <a:off x="3840480" y="2880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code runs, how it reaches the page, and how it responds to the user.</a:t>
            </a:r>
            <a:endParaRPr lang="en-US" sz="1400" dirty="0"/>
          </a:p>
        </p:txBody>
      </p:sp>
      <p:pic>
        <p:nvPicPr>
          <p:cNvPr id="8" name="Picture 7" descr="Creative commons licence">
            <a:extLst>
              <a:ext uri="{FF2B5EF4-FFF2-40B4-BE49-F238E27FC236}">
                <a16:creationId xmlns:a16="http://schemas.microsoft.com/office/drawing/2014/main" id="{B8670ACB-2832-DC5E-5D8B-0535B7380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logo CEN3031">
            <a:extLst>
              <a:ext uri="{FF2B5EF4-FFF2-40B4-BE49-F238E27FC236}">
                <a16:creationId xmlns:a16="http://schemas.microsoft.com/office/drawing/2014/main" id="{4CE8B241-7DFD-6FAC-4128-E4AF0461A9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your code actually runs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0515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runs on a single thread: one thing at a time, top to bottom. Function calls stack up and unwind. Slow work is handed off and finished later.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57200" y="1874520"/>
            <a:ext cx="2514600" cy="19659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57200" y="1874520"/>
            <a:ext cx="73152" cy="196596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8580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THREAD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85800" y="24688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line of your code runs at any instant. No code interrupts another mid-statement.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200400" y="1874520"/>
            <a:ext cx="2514600" cy="19659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200400" y="1874520"/>
            <a:ext cx="73152" cy="196596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42900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CALL STACK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24688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function pushes it on the stack; returning pops it off. The current call sits on top.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3600" y="1874520"/>
            <a:ext cx="2514600" cy="19659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943600" y="1874520"/>
            <a:ext cx="73152" cy="1965960"/>
          </a:xfrm>
          <a:prstGeom prst="rect">
            <a:avLst/>
          </a:prstGeom>
          <a:solidFill>
            <a:srgbClr val="F1C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17220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1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NON-BLOCKING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172200" y="24688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and network requests are handed to the browser, which notifies you when they finish.</a:t>
            </a:r>
            <a:endParaRPr lang="en-US" sz="1300" dirty="0"/>
          </a:p>
        </p:txBody>
      </p:sp>
      <p:pic>
        <p:nvPicPr>
          <p:cNvPr id="18" name="Picture 17" descr="Creative commons licence">
            <a:extLst>
              <a:ext uri="{FF2B5EF4-FFF2-40B4-BE49-F238E27FC236}">
                <a16:creationId xmlns:a16="http://schemas.microsoft.com/office/drawing/2014/main" id="{5446E212-F130-8DB3-AAAA-6A58A477E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logo CEN3031">
            <a:extLst>
              <a:ext uri="{FF2B5EF4-FFF2-40B4-BE49-F238E27FC236}">
                <a16:creationId xmlns:a16="http://schemas.microsoft.com/office/drawing/2014/main" id="{5ABBE71D-9B9D-2FCA-84EE-5C66468169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Reaching into the page: the DOM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024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turns your HTML into a live tree of objects. JavaScript reads and rewrites that tree to change what the user sees.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57200" y="1572768"/>
            <a:ext cx="4663440" cy="233172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1792" y="1682496"/>
            <a:ext cx="433425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find an element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"#go"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&amp; change it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 me"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classList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"active"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make a new one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createElement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appendChild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4068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40680" y="19110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elements with a CSS selector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40680" y="2231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40680" y="24780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or replace the text inside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4068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classList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40680" y="3044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CSS classes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40680" y="3364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createElement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40680" y="3611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 nodes, then attach them</a:t>
            </a:r>
            <a:endParaRPr lang="en-US" sz="1150" dirty="0"/>
          </a:p>
        </p:txBody>
      </p:sp>
      <p:pic>
        <p:nvPicPr>
          <p:cNvPr id="16" name="Picture 15" descr="Creative commons licence">
            <a:extLst>
              <a:ext uri="{FF2B5EF4-FFF2-40B4-BE49-F238E27FC236}">
                <a16:creationId xmlns:a16="http://schemas.microsoft.com/office/drawing/2014/main" id="{F39B08C2-C183-6607-8F9E-EFC327E07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logo CEN3031">
            <a:extLst>
              <a:ext uri="{FF2B5EF4-FFF2-40B4-BE49-F238E27FC236}">
                <a16:creationId xmlns:a16="http://schemas.microsoft.com/office/drawing/2014/main" id="{7F112853-C82C-25E7-3976-686288F6D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the user: events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024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JavaScript is event-driven: you register a function now, and the browser calls it later, when the thing happens.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57200" y="1572768"/>
            <a:ext cx="4937760" cy="228600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1792" y="1682496"/>
            <a:ext cx="46085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"#go"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"clicked!"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function runs each time, later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532120" y="16459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endParaRPr lang="en-US" sz="12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function to an event by name.</a:t>
            </a:r>
            <a:endParaRPr lang="en-US" sz="12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callback</a:t>
            </a:r>
            <a:endParaRPr lang="en-US" sz="12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time the event fires, not now.</a:t>
            </a:r>
            <a:endParaRPr lang="en-US" sz="12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event</a:t>
            </a:r>
            <a:endParaRPr lang="en-US" sz="12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describing what happened.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4736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events: click, input, submit, keydown, mouseover, load.</a:t>
            </a:r>
            <a:endParaRPr lang="en-US" sz="1050" dirty="0"/>
          </a:p>
        </p:txBody>
      </p:sp>
      <p:pic>
        <p:nvPicPr>
          <p:cNvPr id="10" name="Picture 9" descr="Creative commons licence">
            <a:extLst>
              <a:ext uri="{FF2B5EF4-FFF2-40B4-BE49-F238E27FC236}">
                <a16:creationId xmlns:a16="http://schemas.microsoft.com/office/drawing/2014/main" id="{A30642CF-0F3E-1E8A-0526-A77764514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logo CEN3031">
            <a:extLst>
              <a:ext uri="{FF2B5EF4-FFF2-40B4-BE49-F238E27FC236}">
                <a16:creationId xmlns:a16="http://schemas.microsoft.com/office/drawing/2014/main" id="{A3479AD4-579E-2D28-F306-98A38D3B1A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some work takes time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0515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data from a server takes hundreds of milliseconds. With one thread, waiting would freeze the whole page. So JavaScript doesn't wait — it moves on and handles the result when it arrives.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457200" y="2240280"/>
            <a:ext cx="1783080" cy="868680"/>
          </a:xfrm>
          <a:prstGeom prst="rect">
            <a:avLst/>
          </a:prstGeom>
          <a:solidFill>
            <a:srgbClr val="0D1015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48640" y="22402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request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240280" y="224028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2560320" y="2240280"/>
            <a:ext cx="1783080" cy="868680"/>
          </a:xfrm>
          <a:prstGeom prst="rect">
            <a:avLst/>
          </a:prstGeom>
          <a:solidFill>
            <a:srgbClr val="0D1015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651760" y="22402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running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343400" y="224028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4663440" y="2240280"/>
            <a:ext cx="1783080" cy="868680"/>
          </a:xfrm>
          <a:prstGeom prst="rect">
            <a:avLst/>
          </a:prstGeom>
          <a:solidFill>
            <a:srgbClr val="0D1015"/>
          </a:solidFill>
          <a:ln w="19050">
            <a:solidFill>
              <a:srgbClr val="F1C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754880" y="22402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arrives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46520" y="224028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766560" y="2240280"/>
            <a:ext cx="1783080" cy="868680"/>
          </a:xfrm>
          <a:prstGeom prst="rect">
            <a:avLst/>
          </a:prstGeom>
          <a:solidFill>
            <a:srgbClr val="0D1015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858000" y="22402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7200" y="3429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“don't block, finish later” model is what asynchronous JavaScript is all about.</a:t>
            </a:r>
            <a:endParaRPr lang="en-US" sz="1400" dirty="0"/>
          </a:p>
        </p:txBody>
      </p:sp>
      <p:pic>
        <p:nvPicPr>
          <p:cNvPr id="18" name="Picture 17" descr="Creative commons licence">
            <a:extLst>
              <a:ext uri="{FF2B5EF4-FFF2-40B4-BE49-F238E27FC236}">
                <a16:creationId xmlns:a16="http://schemas.microsoft.com/office/drawing/2014/main" id="{0455A262-DA05-E5F0-288A-B2236631F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logo CEN3031">
            <a:extLst>
              <a:ext uri="{FF2B5EF4-FFF2-40B4-BE49-F238E27FC236}">
                <a16:creationId xmlns:a16="http://schemas.microsoft.com/office/drawing/2014/main" id="{9EF53159-288F-BB53-F5F5-7CCD1CEF50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generations of async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function to run later. Nesting gets messy fast.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697480" y="1033272"/>
            <a:ext cx="2859258" cy="96012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2862072" y="1143000"/>
            <a:ext cx="53858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getData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that arrives later. Chain with .then().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697480" y="2130552"/>
            <a:ext cx="2859258" cy="96012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862072" y="2240280"/>
            <a:ext cx="53858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3273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/ AWAIT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async code that reads like normal, top-down code.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697480" y="3227832"/>
            <a:ext cx="2859258" cy="96012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862072" y="3337560"/>
            <a:ext cx="53858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7200" y="4736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do the same job. Prefer async/await — it's the clearest to read.</a:t>
            </a:r>
            <a:endParaRPr lang="en-US" sz="10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D69225-39BA-F1DD-C604-AFB6322CC994}"/>
              </a:ext>
            </a:extLst>
          </p:cNvPr>
          <p:cNvSpPr txBox="1"/>
          <p:nvPr/>
        </p:nvSpPr>
        <p:spPr>
          <a:xfrm>
            <a:off x="5860074" y="250764"/>
            <a:ext cx="25986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DCDCAA"/>
                </a:solidFill>
                <a:latin typeface="Consolas" pitchFamily="34" charset="0"/>
              </a:rPr>
              <a:t>A callback is a function you hand to another function, so that other function can call it for you </a:t>
            </a:r>
          </a:p>
          <a:p>
            <a:endParaRPr lang="en-US" sz="1000" dirty="0">
              <a:solidFill>
                <a:srgbClr val="569CD6"/>
              </a:solidFill>
              <a:latin typeface="Consolas" pitchFamily="34" charset="0"/>
            </a:endParaRPr>
          </a:p>
          <a:p>
            <a:pPr marL="91440" lvl="1"/>
            <a:r>
              <a:rPr lang="en-US" sz="1000" dirty="0">
                <a:solidFill>
                  <a:srgbClr val="569CD6"/>
                </a:solidFill>
                <a:latin typeface="Consolas" pitchFamily="34" charset="0"/>
              </a:rPr>
              <a:t>function</a:t>
            </a:r>
            <a:r>
              <a:rPr lang="en-US" sz="10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</a:rPr>
              <a:t>use</a:t>
            </a:r>
            <a:r>
              <a:rPr lang="en-US" sz="1000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</a:rPr>
              <a:t>result</a:t>
            </a:r>
            <a:r>
              <a:rPr lang="en-US" sz="1000" dirty="0">
                <a:solidFill>
                  <a:schemeClr val="accent1"/>
                </a:solidFill>
                <a:latin typeface="Consolas" panose="020B0609020204030204" pitchFamily="49" charset="0"/>
              </a:rPr>
              <a:t>) {</a:t>
            </a:r>
          </a:p>
          <a:p>
            <a:pPr marL="91440" lvl="1"/>
            <a:r>
              <a:rPr lang="en-US" sz="1000" dirty="0">
                <a:solidFill>
                  <a:schemeClr val="accent1"/>
                </a:solidFill>
                <a:latin typeface="Consolas" panose="020B0609020204030204" pitchFamily="49" charset="0"/>
              </a:rPr>
              <a:t>  console.log("got:",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</a:rPr>
              <a:t>result</a:t>
            </a:r>
            <a:r>
              <a:rPr lang="en-US" sz="1000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  <a:p>
            <a:pPr marL="91440" lvl="1"/>
            <a:r>
              <a:rPr lang="en-US" sz="1000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</a:p>
          <a:p>
            <a:pPr marL="91440" lvl="1"/>
            <a:endParaRPr lang="en-US" sz="10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91440" lvl="1"/>
            <a:r>
              <a:rPr lang="en-US" sz="1000" dirty="0">
                <a:solidFill>
                  <a:srgbClr val="569CD6"/>
                </a:solidFill>
                <a:latin typeface="Consolas" pitchFamily="34" charset="0"/>
              </a:rPr>
              <a:t>function</a:t>
            </a:r>
            <a:r>
              <a:rPr lang="en-US" sz="10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DCDCAA"/>
                </a:solidFill>
                <a:latin typeface="Consolas" pitchFamily="34" charset="0"/>
              </a:rPr>
              <a:t>getData</a:t>
            </a:r>
            <a:r>
              <a:rPr lang="en-US" sz="1000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</a:rPr>
              <a:t>callback</a:t>
            </a:r>
            <a:r>
              <a:rPr lang="en-US" sz="1000" dirty="0">
                <a:solidFill>
                  <a:schemeClr val="accent1"/>
                </a:solidFill>
                <a:latin typeface="Consolas" panose="020B0609020204030204" pitchFamily="49" charset="0"/>
              </a:rPr>
              <a:t>) {</a:t>
            </a:r>
          </a:p>
          <a:p>
            <a:pPr marL="91440" lvl="1"/>
            <a:r>
              <a:rPr lang="en-US" sz="1000" dirty="0">
                <a:solidFill>
                  <a:schemeClr val="accent1"/>
                </a:solidFill>
                <a:latin typeface="Consolas" panose="020B0609020204030204" pitchFamily="49" charset="0"/>
              </a:rPr>
              <a:t>  const data = 42;     </a:t>
            </a:r>
          </a:p>
          <a:p>
            <a:pPr marL="91440" lvl="1"/>
            <a:r>
              <a:rPr lang="en-US" sz="1000" dirty="0">
                <a:solidFill>
                  <a:schemeClr val="accent1"/>
                </a:solidFill>
                <a:latin typeface="Consolas" panose="020B0609020204030204" pitchFamily="49" charset="0"/>
              </a:rPr>
              <a:t> 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</a:rPr>
              <a:t>callback</a:t>
            </a:r>
            <a:r>
              <a:rPr lang="en-US" sz="1000" dirty="0">
                <a:solidFill>
                  <a:schemeClr val="accent1"/>
                </a:solidFill>
                <a:latin typeface="Consolas" panose="020B0609020204030204" pitchFamily="49" charset="0"/>
              </a:rPr>
              <a:t>(data); </a:t>
            </a:r>
          </a:p>
          <a:p>
            <a:pPr marL="91440" lvl="1"/>
            <a:r>
              <a:rPr lang="en-US" sz="1000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8" name="Picture 17" descr="Creative commons licence">
            <a:extLst>
              <a:ext uri="{FF2B5EF4-FFF2-40B4-BE49-F238E27FC236}">
                <a16:creationId xmlns:a16="http://schemas.microsoft.com/office/drawing/2014/main" id="{D95A2A85-F45F-5D2D-E1B7-3045F683F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 CEN3031">
            <a:extLst>
              <a:ext uri="{FF2B5EF4-FFF2-40B4-BE49-F238E27FC236}">
                <a16:creationId xmlns:a16="http://schemas.microsoft.com/office/drawing/2014/main" id="{2ED562F9-5F46-43FC-C427-1143A2994D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 ties it together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0241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async work finishes, its callback waits in a queue. The event loop runs queued callbacks one at a time — but only while the call stack is empty.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640080" y="1828800"/>
            <a:ext cx="2377440" cy="2011680"/>
          </a:xfrm>
          <a:prstGeom prst="rect">
            <a:avLst/>
          </a:prstGeom>
          <a:solidFill>
            <a:srgbClr val="0D1015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STACK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008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code now,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at a time.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657600" y="2240280"/>
            <a:ext cx="1737360" cy="1188720"/>
          </a:xfrm>
          <a:prstGeom prst="ellipse">
            <a:avLst/>
          </a:prstGeom>
          <a:solidFill>
            <a:srgbClr val="0D1015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657600" y="2240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35040" y="1828800"/>
            <a:ext cx="2377440" cy="2011680"/>
          </a:xfrm>
          <a:prstGeom prst="rect">
            <a:avLst/>
          </a:prstGeom>
          <a:solidFill>
            <a:srgbClr val="0D1015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03504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 QUEUE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3504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timers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wait here.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01752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39496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57200" y="4736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empty? The loop moves the next waiting callback onto the stack and runs it.</a:t>
            </a:r>
            <a:endParaRPr lang="en-US" sz="1050" dirty="0"/>
          </a:p>
        </p:txBody>
      </p:sp>
      <p:pic>
        <p:nvPicPr>
          <p:cNvPr id="17" name="Picture 16" descr="Creative commons licence">
            <a:extLst>
              <a:ext uri="{FF2B5EF4-FFF2-40B4-BE49-F238E27FC236}">
                <a16:creationId xmlns:a16="http://schemas.microsoft.com/office/drawing/2014/main" id="{1BB44915-1FD0-CBC7-2CDF-6715B59AD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logo CEN3031">
            <a:extLst>
              <a:ext uri="{FF2B5EF4-FFF2-40B4-BE49-F238E27FC236}">
                <a16:creationId xmlns:a16="http://schemas.microsoft.com/office/drawing/2014/main" id="{CB17A8E5-5A0D-9CA6-F3AF-27C0F1686D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a server: fetch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57200" y="1097280"/>
            <a:ext cx="5029200" cy="278892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621792" y="1207008"/>
            <a:ext cx="470001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loadUser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"/api/users/"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"request failed"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loadUser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60720" y="1207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fetch(url)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760720" y="14538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an HTTP request, returns a promise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760720" y="1883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760720" y="2130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until the promise resolves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760720" y="2560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760720" y="2807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response body as JSON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760720" y="3236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/ catch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760720" y="34838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requests that fail</a:t>
            </a:r>
            <a:endParaRPr lang="en-US" sz="1150" dirty="0"/>
          </a:p>
        </p:txBody>
      </p:sp>
      <p:pic>
        <p:nvPicPr>
          <p:cNvPr id="15" name="Picture 14" descr="Creative commons licence">
            <a:extLst>
              <a:ext uri="{FF2B5EF4-FFF2-40B4-BE49-F238E27FC236}">
                <a16:creationId xmlns:a16="http://schemas.microsoft.com/office/drawing/2014/main" id="{8BF8F0B3-C023-4868-363D-7A85326CC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logo CEN3031">
            <a:extLst>
              <a:ext uri="{FF2B5EF4-FFF2-40B4-BE49-F238E27FC236}">
                <a16:creationId xmlns:a16="http://schemas.microsoft.com/office/drawing/2014/main" id="{16ECF25A-8621-3E1F-10F3-C66677B22A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Famous gotchas to expect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57200" y="1143000"/>
            <a:ext cx="3840480" cy="896112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457200" y="1143000"/>
            <a:ext cx="64008" cy="896112"/>
          </a:xfrm>
          <a:prstGeom prst="rect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58368" y="1216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vs ===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58368" y="14904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== coerces types. Always use === and !==.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26280" y="1143000"/>
            <a:ext cx="3840480" cy="896112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526280" y="1143000"/>
            <a:ext cx="64008" cy="89611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727448" y="1216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27448" y="14904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how a function is called, not where it's defined. Arrow functions keep the outer this.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167128"/>
            <a:ext cx="3840480" cy="896112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57200" y="2167128"/>
            <a:ext cx="64008" cy="896112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58368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hoisting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58368" y="25146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and function declarations move to the top of scope. let/const don't — use them.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26280" y="2167128"/>
            <a:ext cx="3840480" cy="896112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26280" y="2167128"/>
            <a:ext cx="64008" cy="896112"/>
          </a:xfrm>
          <a:prstGeom prst="rect">
            <a:avLst/>
          </a:prstGeom>
          <a:solidFill>
            <a:srgbClr val="F1C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727448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1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 &amp; closures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727448" y="25146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functions remember the variables around them, even after the outer call returns.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57200" y="3191256"/>
            <a:ext cx="3840480" cy="896112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57200" y="3191256"/>
            <a:ext cx="64008" cy="896112"/>
          </a:xfrm>
          <a:prstGeom prst="rect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58368" y="3264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58368" y="353872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 Number” is a number, and NaN === NaN is false. Check with Number.isNaN().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526280" y="3191256"/>
            <a:ext cx="3840480" cy="896112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526280" y="3191256"/>
            <a:ext cx="64008" cy="89611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727448" y="3264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4727448" y="353872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stops reassignment, not change. Objects and arrays can still be edited in place.</a:t>
            </a:r>
            <a:endParaRPr lang="en-US" sz="1150" dirty="0"/>
          </a:p>
        </p:txBody>
      </p:sp>
      <p:pic>
        <p:nvPicPr>
          <p:cNvPr id="29" name="Picture 28" descr="Creative commons licence">
            <a:extLst>
              <a:ext uri="{FF2B5EF4-FFF2-40B4-BE49-F238E27FC236}">
                <a16:creationId xmlns:a16="http://schemas.microsoft.com/office/drawing/2014/main" id="{7185A2EC-FE5D-C782-290B-A6BF79CD9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 descr="logo CEN3031">
            <a:extLst>
              <a:ext uri="{FF2B5EF4-FFF2-40B4-BE49-F238E27FC236}">
                <a16:creationId xmlns:a16="http://schemas.microsoft.com/office/drawing/2014/main" id="{79068B69-AB77-8EF7-E818-F7E42FA6E5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is not the browser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0241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and the things you use it for are separate. The same JavaScript runs in Node with no document, no window, no fetch from the browser.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57200" y="1645920"/>
            <a:ext cx="3840480" cy="237744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3840480" cy="4572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5720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LANGUAGE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31520" y="22860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types, operators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and closures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and arrays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and async/await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 JS runs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26280" y="1645920"/>
            <a:ext cx="3840480" cy="237744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526280" y="1645920"/>
            <a:ext cx="3840480" cy="45720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52628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BROWSER APIS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00600" y="22860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the DOM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addEventListener, events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and the network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window, timers, storage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 the browser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4736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language once; the APIs change with where you run it.</a:t>
            </a:r>
            <a:endParaRPr lang="en-US" sz="1050" dirty="0"/>
          </a:p>
        </p:txBody>
      </p:sp>
      <p:pic>
        <p:nvPicPr>
          <p:cNvPr id="15" name="Picture 14" descr="Creative commons licence">
            <a:extLst>
              <a:ext uri="{FF2B5EF4-FFF2-40B4-BE49-F238E27FC236}">
                <a16:creationId xmlns:a16="http://schemas.microsoft.com/office/drawing/2014/main" id="{D23D589B-A374-4674-BAE7-DB4B01F7A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logo CEN3031">
            <a:extLst>
              <a:ext uri="{FF2B5EF4-FFF2-40B4-BE49-F238E27FC236}">
                <a16:creationId xmlns:a16="http://schemas.microsoft.com/office/drawing/2014/main" id="{203F55E9-8F77-A42F-9C54-93CEA92F94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remember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143000" y="1143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 value.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4434840" y="11430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Strings, numbers, functions, objects — all passed around the same way.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18013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143000" y="18013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first-class.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434840" y="18013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them, pass them, return them. Callbacks are just functions handed off.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245973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143000" y="24597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const and ===.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34840" y="245973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const; switch to let only to reassign. Never use loose ==.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311810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143000" y="31181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is the DOM.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434840" y="311810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elements, then read or change them. Wire behavior with event listeners.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" y="37764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143000" y="3776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work is async.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434840" y="377647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block the one thread. Use async/await; the event loop runs the rest.</a:t>
            </a:r>
            <a:endParaRPr lang="en-US" sz="1250" dirty="0"/>
          </a:p>
        </p:txBody>
      </p:sp>
      <p:pic>
        <p:nvPicPr>
          <p:cNvPr id="20" name="Picture 19" descr="Creative commons licence">
            <a:extLst>
              <a:ext uri="{FF2B5EF4-FFF2-40B4-BE49-F238E27FC236}">
                <a16:creationId xmlns:a16="http://schemas.microsoft.com/office/drawing/2014/main" id="{52C97BB8-6D97-DDE6-7C49-4B0E5EBB0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logo CEN3031">
            <a:extLst>
              <a:ext uri="{FF2B5EF4-FFF2-40B4-BE49-F238E27FC236}">
                <a16:creationId xmlns:a16="http://schemas.microsoft.com/office/drawing/2014/main" id="{4CB0355A-7F5F-A918-C124-C833D394AD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title" idx="4294967295"/>
          </p:nvPr>
        </p:nvSpPr>
        <p:spPr>
          <a:xfrm>
            <a:off x="457200" y="365760"/>
            <a:ext cx="7955280" cy="5669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Other resources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457200" y="14356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reference for the language and every browser API.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18196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developer.mozilla.org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2628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javascript.info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526280" y="14356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JavaScript Tutorial — clear, thorough, free.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26280" y="18196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javascript.info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JavaScript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7200" y="244144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book that builds real intuition for the language.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2825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eloquentjavascript.net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docs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457200" y="34472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JavaScript outside the browser.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38313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nodejs.org/docs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48056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Use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4480560" y="244144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feature support across the browsers you target.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480560" y="2825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caniuse.com</a:t>
            </a:r>
            <a:endParaRPr lang="en-US" sz="1100" dirty="0"/>
          </a:p>
        </p:txBody>
      </p:sp>
      <p:pic>
        <p:nvPicPr>
          <p:cNvPr id="14" name="Picture 13" descr="Creative commons licence">
            <a:extLst>
              <a:ext uri="{FF2B5EF4-FFF2-40B4-BE49-F238E27FC236}">
                <a16:creationId xmlns:a16="http://schemas.microsoft.com/office/drawing/2014/main" id="{DDF632DA-C6C6-BD48-A329-D254F1FEE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CEN3031">
            <a:extLst>
              <a:ext uri="{FF2B5EF4-FFF2-40B4-BE49-F238E27FC236}">
                <a16:creationId xmlns:a16="http://schemas.microsoft.com/office/drawing/2014/main" id="{394309DC-B68E-B05C-2FC0-0618E4F4F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language,</a:t>
            </a:r>
            <a:endParaRPr lang="en-US" sz="3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web does what you say.</a:t>
            </a:r>
            <a:endParaRPr lang="en-US" sz="3300" dirty="0"/>
          </a:p>
        </p:txBody>
      </p:sp>
      <p:sp>
        <p:nvSpPr>
          <p:cNvPr id="5" name="Text 1"/>
          <p:cNvSpPr>
            <a:spLocks noGrp="1"/>
          </p:cNvSpPr>
          <p:nvPr>
            <p:ph type="title" idx="4294967295"/>
          </p:nvPr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hape 2"/>
          <p:cNvSpPr/>
          <p:nvPr/>
        </p:nvSpPr>
        <p:spPr>
          <a:xfrm>
            <a:off x="457200" y="3703320"/>
            <a:ext cx="4023360" cy="54864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3703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</a:t>
            </a: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400" dirty="0"/>
          </a:p>
        </p:txBody>
      </p:sp>
      <p:pic>
        <p:nvPicPr>
          <p:cNvPr id="8" name="Picture 7" descr="Creative commons licence">
            <a:extLst>
              <a:ext uri="{FF2B5EF4-FFF2-40B4-BE49-F238E27FC236}">
                <a16:creationId xmlns:a16="http://schemas.microsoft.com/office/drawing/2014/main" id="{012B7194-AD0D-5A52-C303-ED4EAD725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logo CEN3031">
            <a:extLst>
              <a:ext uri="{FF2B5EF4-FFF2-40B4-BE49-F238E27FC236}">
                <a16:creationId xmlns:a16="http://schemas.microsoft.com/office/drawing/2014/main" id="{B6429DA5-0245-9CA0-E341-00F47FB516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2390</Words>
  <Application>Microsoft Office PowerPoint</Application>
  <PresentationFormat>On-screen Show (16:9)</PresentationFormat>
  <Paragraphs>380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JavaScript</vt:lpstr>
      <vt:lpstr>JavaScript</vt:lpstr>
      <vt:lpstr>Questions JavaScript lets you answer</vt:lpstr>
      <vt:lpstr>JavaScript runs everywhere</vt:lpstr>
      <vt:lpstr>APPROACH</vt:lpstr>
      <vt:lpstr>The Language</vt:lpstr>
      <vt:lpstr>Everything is a value</vt:lpstr>
      <vt:lpstr>Variables: const, let, (and var)</vt:lpstr>
      <vt:lpstr>Comparisons and truthiness</vt:lpstr>
      <vt:lpstr>Three ways to write a function</vt:lpstr>
      <vt:lpstr>Making decisions and repeating work</vt:lpstr>
      <vt:lpstr>Arrays: ordered lists of values</vt:lpstr>
      <vt:lpstr>Objects: named properties</vt:lpstr>
      <vt:lpstr>In the Browser</vt:lpstr>
      <vt:lpstr>How your code actually runs</vt:lpstr>
      <vt:lpstr>Reaching into the page: the DOM</vt:lpstr>
      <vt:lpstr>Responding to the user: events</vt:lpstr>
      <vt:lpstr>The problem: some work takes time</vt:lpstr>
      <vt:lpstr>Three generations of async</vt:lpstr>
      <vt:lpstr>The event loop ties it together</vt:lpstr>
      <vt:lpstr>Talking to a server: fetch</vt:lpstr>
      <vt:lpstr>Famous gotchas to expect</vt:lpstr>
      <vt:lpstr>JavaScript is not the browser</vt:lpstr>
      <vt:lpstr>Five things to remember</vt:lpstr>
      <vt:lpstr>Other resources</vt:lpstr>
      <vt:lpstr>Questions?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subject>PptxGenJS Presentation</dc:subject>
  <dc:creator>CEN 3031</dc:creator>
  <cp:lastModifiedBy>Kapoor,Amanpreet</cp:lastModifiedBy>
  <cp:revision>7</cp:revision>
  <dcterms:created xsi:type="dcterms:W3CDTF">2026-05-30T14:45:55Z</dcterms:created>
  <dcterms:modified xsi:type="dcterms:W3CDTF">2026-06-01T02:38:22Z</dcterms:modified>
</cp:coreProperties>
</file>